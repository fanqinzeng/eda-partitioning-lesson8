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1afae46837d43c6" /><Relationship Type="http://schemas.openxmlformats.org/officeDocument/2006/relationships/extended-properties" Target="/docProps/app.xml" Id="R542eed496c8a4f27" /><Relationship Type="http://schemas.openxmlformats.org/officeDocument/2006/relationships/officeDocument" Target="/ppt/presentation.xml" Id="Rd764132d7c88437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708bf97e3cc4300"/>
  </p:sldMasterIdLst>
  <p:notesMasterIdLst>
    <p:notesMasterId xmlns:r="http://schemas.openxmlformats.org/officeDocument/2006/relationships" r:id="Rb65a0cbeb0d84fbe"/>
  </p:notesMasterIdLst>
  <p:sldIdLst>
    <p:sldId xmlns:r="http://schemas.openxmlformats.org/officeDocument/2006/relationships" id="256" r:id="R178824a9b345438d"/>
    <p:sldId xmlns:r="http://schemas.openxmlformats.org/officeDocument/2006/relationships" id="257" r:id="Rd8f29cdebdc644b0"/>
    <p:sldId xmlns:r="http://schemas.openxmlformats.org/officeDocument/2006/relationships" id="258" r:id="Rb278da2e03cc444d"/>
    <p:sldId xmlns:r="http://schemas.openxmlformats.org/officeDocument/2006/relationships" id="259" r:id="R6aa3263e23264abb"/>
    <p:sldId xmlns:r="http://schemas.openxmlformats.org/officeDocument/2006/relationships" id="260" r:id="R298c59e8b2f74adb"/>
    <p:sldId xmlns:r="http://schemas.openxmlformats.org/officeDocument/2006/relationships" id="261" r:id="R8c62541c21aa4c0e"/>
    <p:sldId xmlns:r="http://schemas.openxmlformats.org/officeDocument/2006/relationships" id="262" r:id="R0b79f5a5ca35417c"/>
    <p:sldId xmlns:r="http://schemas.openxmlformats.org/officeDocument/2006/relationships" id="263" r:id="Ra54f30036bae4b38"/>
    <p:sldId xmlns:r="http://schemas.openxmlformats.org/officeDocument/2006/relationships" id="264" r:id="R2ccd1236faf34f62"/>
    <p:sldId xmlns:r="http://schemas.openxmlformats.org/officeDocument/2006/relationships" id="265" r:id="R2529aeab272d4e1e"/>
    <p:sldId xmlns:r="http://schemas.openxmlformats.org/officeDocument/2006/relationships" id="266" r:id="Rb7d1dfc8d2bd416e"/>
    <p:sldId xmlns:r="http://schemas.openxmlformats.org/officeDocument/2006/relationships" id="267" r:id="R0dca2e5bb4e44280"/>
    <p:sldId xmlns:r="http://schemas.openxmlformats.org/officeDocument/2006/relationships" id="268" r:id="R64598a8007204006"/>
    <p:sldId xmlns:r="http://schemas.openxmlformats.org/officeDocument/2006/relationships" id="269" r:id="Reb6bcb4cf4594a55"/>
    <p:sldId xmlns:r="http://schemas.openxmlformats.org/officeDocument/2006/relationships" id="270" r:id="R09479fcbb7a34b77"/>
    <p:sldId xmlns:r="http://schemas.openxmlformats.org/officeDocument/2006/relationships" id="271" r:id="R763fa56a25ec41e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8cf2596383a4978" /><Relationship Type="http://schemas.openxmlformats.org/officeDocument/2006/relationships/slideMaster" Target="/ppt/slideMasters/slideMaster1.xml" Id="R7708bf97e3cc4300" /><Relationship Type="http://schemas.openxmlformats.org/officeDocument/2006/relationships/notesMaster" Target="/ppt/notesMasters/notesMaster1.xml" Id="Rb65a0cbeb0d84fbe" /><Relationship Type="http://schemas.openxmlformats.org/officeDocument/2006/relationships/presProps" Target="/ppt/presProps.xml" Id="R3989b65a7fce4d08" /><Relationship Type="http://schemas.openxmlformats.org/officeDocument/2006/relationships/tableStyles" Target="/ppt/tableStyles.xml" Id="Rdec7303c626d4f6e" /><Relationship Type="http://schemas.openxmlformats.org/officeDocument/2006/relationships/slide" Target="/ppt/slides/slide1.xml" Id="R178824a9b345438d" /><Relationship Type="http://schemas.openxmlformats.org/officeDocument/2006/relationships/slide" Target="/ppt/slides/slide2.xml" Id="Rd8f29cdebdc644b0" /><Relationship Type="http://schemas.openxmlformats.org/officeDocument/2006/relationships/slide" Target="/ppt/slides/slide3.xml" Id="Rb278da2e03cc444d" /><Relationship Type="http://schemas.openxmlformats.org/officeDocument/2006/relationships/slide" Target="/ppt/slides/slide4.xml" Id="R6aa3263e23264abb" /><Relationship Type="http://schemas.openxmlformats.org/officeDocument/2006/relationships/slide" Target="/ppt/slides/slide5.xml" Id="R298c59e8b2f74adb" /><Relationship Type="http://schemas.openxmlformats.org/officeDocument/2006/relationships/slide" Target="/ppt/slides/slide6.xml" Id="R8c62541c21aa4c0e" /><Relationship Type="http://schemas.openxmlformats.org/officeDocument/2006/relationships/slide" Target="/ppt/slides/slide7.xml" Id="R0b79f5a5ca35417c" /><Relationship Type="http://schemas.openxmlformats.org/officeDocument/2006/relationships/slide" Target="/ppt/slides/slide8.xml" Id="Ra54f30036bae4b38" /><Relationship Type="http://schemas.openxmlformats.org/officeDocument/2006/relationships/slide" Target="/ppt/slides/slide9.xml" Id="R2ccd1236faf34f62" /><Relationship Type="http://schemas.openxmlformats.org/officeDocument/2006/relationships/slide" Target="/ppt/slides/slide10.xml" Id="R2529aeab272d4e1e" /><Relationship Type="http://schemas.openxmlformats.org/officeDocument/2006/relationships/slide" Target="/ppt/slides/slide11.xml" Id="Rb7d1dfc8d2bd416e" /><Relationship Type="http://schemas.openxmlformats.org/officeDocument/2006/relationships/slide" Target="/ppt/slides/slide12.xml" Id="R0dca2e5bb4e44280" /><Relationship Type="http://schemas.openxmlformats.org/officeDocument/2006/relationships/slide" Target="/ppt/slides/slide13.xml" Id="R64598a8007204006" /><Relationship Type="http://schemas.openxmlformats.org/officeDocument/2006/relationships/slide" Target="/ppt/slides/slide14.xml" Id="Reb6bcb4cf4594a55" /><Relationship Type="http://schemas.openxmlformats.org/officeDocument/2006/relationships/slide" Target="/ppt/slides/slide15.xml" Id="R09479fcbb7a34b77" /><Relationship Type="http://schemas.openxmlformats.org/officeDocument/2006/relationships/slide" Target="/ppt/slides/slide16.xml" Id="R763fa56a25ec41e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325cfba1d424b7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d4b3f8e3e6d4945" /><Relationship Type="http://schemas.openxmlformats.org/officeDocument/2006/relationships/notesMaster" Target="/ppt/notesMasters/notesMaster1.xml" Id="R22967310d34f440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798b543650d4f03" /><Relationship Type="http://schemas.openxmlformats.org/officeDocument/2006/relationships/notesMaster" Target="/ppt/notesMasters/notesMaster1.xml" Id="R71adac2268dd4bb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c4d9ffe65c34809" /><Relationship Type="http://schemas.openxmlformats.org/officeDocument/2006/relationships/notesMaster" Target="/ppt/notesMasters/notesMaster1.xml" Id="Ree2a8d6ae67246b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9c2259764254c93" /><Relationship Type="http://schemas.openxmlformats.org/officeDocument/2006/relationships/notesMaster" Target="/ppt/notesMasters/notesMaster1.xml" Id="Ra90e6e9a6b6f48e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f28f3a00c524293" /><Relationship Type="http://schemas.openxmlformats.org/officeDocument/2006/relationships/notesMaster" Target="/ppt/notesMasters/notesMaster1.xml" Id="R1474bcec67754ad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3a730cbe0374493" /><Relationship Type="http://schemas.openxmlformats.org/officeDocument/2006/relationships/notesMaster" Target="/ppt/notesMasters/notesMaster1.xml" Id="R6b776b3ac4af46c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a137556dca64f8f" /><Relationship Type="http://schemas.openxmlformats.org/officeDocument/2006/relationships/notesMaster" Target="/ppt/notesMasters/notesMaster1.xml" Id="Rfb11d32ef9ca4b6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8b4b702338341d7" /><Relationship Type="http://schemas.openxmlformats.org/officeDocument/2006/relationships/notesMaster" Target="/ppt/notesMasters/notesMaster1.xml" Id="R09a7107abacd4d2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90faf1ddea6448e" /><Relationship Type="http://schemas.openxmlformats.org/officeDocument/2006/relationships/notesMaster" Target="/ppt/notesMasters/notesMaster1.xml" Id="Rcfc25ce3de32455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50058ea743641b8" /><Relationship Type="http://schemas.openxmlformats.org/officeDocument/2006/relationships/notesMaster" Target="/ppt/notesMasters/notesMaster1.xml" Id="Re5c31eaac5ca486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61522fbdca14bb8" /><Relationship Type="http://schemas.openxmlformats.org/officeDocument/2006/relationships/notesMaster" Target="/ppt/notesMasters/notesMaster1.xml" Id="R17389bbad53b49a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c33d83a83914980" /><Relationship Type="http://schemas.openxmlformats.org/officeDocument/2006/relationships/notesMaster" Target="/ppt/notesMasters/notesMaster1.xml" Id="Rfb0d4e74e4d64a6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35db04d6f694b36" /><Relationship Type="http://schemas.openxmlformats.org/officeDocument/2006/relationships/notesMaster" Target="/ppt/notesMasters/notesMaster1.xml" Id="R4b6e7bdfbe6e4de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ae26ed27b9a413b" /><Relationship Type="http://schemas.openxmlformats.org/officeDocument/2006/relationships/notesMaster" Target="/ppt/notesMasters/notesMaster1.xml" Id="R6a01233b21bf487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70eb3610ca04131" /><Relationship Type="http://schemas.openxmlformats.org/officeDocument/2006/relationships/notesMaster" Target="/ppt/notesMasters/notesMaster1.xml" Id="R0d121c729e5242f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58cf9805365468e" /><Relationship Type="http://schemas.openxmlformats.org/officeDocument/2006/relationships/notesMaster" Target="/ppt/notesMasters/notesMaster1.xml" Id="R9584c32f359f4d5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引入：上一课讨论两组交换。本课把同一张图分成三组，比较轮询和递归二分。生活情境为虚构教学设定。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课程依据：https://github.com/yongfu-li/eda-learning/tree/main/courses/learn_partitioning/module03-01-multiway-partition</a:t>
            </a:r>
          </a:p>
          <a:p xmlns:a="http://schemas.openxmlformats.org/drawingml/2006/main">
            <a:r>
              <a:t>视觉延续：https://github.com/FanqinZeng/eda-clustering-lab7-kl</a:t>
            </a:r>
          </a:p>
          <a:p xmlns:a="http://schemas.openxmlformats.org/drawingml/2006/main">
            <a:r>
              <a:t>本课源码：https://github.com/FanqinZeng/eda-partitioning-lesson8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三组都必须非空。本例每节点大小为1，每组容量上限为2。因此组大小只能是2、2、1的某种顺序。人数平衡不等于边权代价小。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课程依据：https://github.com/yongfu-li/eda-learning/tree/main/courses/learn_partitioning/module03-01-multiway-partition</a:t>
            </a:r>
          </a:p>
          <a:p xmlns:a="http://schemas.openxmlformats.org/drawingml/2006/main">
            <a:r>
              <a:t>视觉延续：https://github.com/FanqinZeng/eda-clustering-lab7-kl</a:t>
            </a:r>
          </a:p>
          <a:p xmlns:a="http://schemas.openxmlformats.org/drawingml/2006/main">
            <a:r>
              <a:t>本课源码：https://github.com/FanqinZeng/eda-partitioning-lesson8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完整边表：AB5、AC1、BC4、CD2、DE5、CE1。未列出的节点对没有边，按权重0处理。本课把电路简化为加权无向图，真实网表通常还涉及超边等模型。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课程依据：https://github.com/yongfu-li/eda-learning/tree/main/courses/learn_partitioning/module03-01-multiway-partition</a:t>
            </a:r>
          </a:p>
          <a:p xmlns:a="http://schemas.openxmlformats.org/drawingml/2006/main">
            <a:r>
              <a:t>视觉延续：https://github.com/FanqinZeng/eda-clustering-lab7-kl</a:t>
            </a:r>
          </a:p>
          <a:p xmlns:a="http://schemas.openxmlformats.org/drawingml/2006/main">
            <a:r>
              <a:t>本课源码：https://github.com/FanqinZeng/eda-partitioning-lesson8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p(v)表示节点v所属分区。定义cut为所有端点处于不同分区的无向边的权重总和，每条边仅计算一次。优化目标须与容量约束一起表述。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课程依据：https://github.com/yongfu-li/eda-learning/tree/main/courses/learn_partitioning/module03-01-multiway-partition</a:t>
            </a:r>
          </a:p>
          <a:p xmlns:a="http://schemas.openxmlformats.org/drawingml/2006/main">
            <a:r>
              <a:t>视觉延续：https://github.com/FanqinZeng/eda-clustering-lab7-kl</a:t>
            </a:r>
          </a:p>
          <a:p xmlns:a="http://schemas.openxmlformats.org/drawingml/2006/main">
            <a:r>
              <a:t>本课源码：https://github.com/FanqinZeng/eda-partitioning-lesson8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算法：按字母A、B、C、D、E依次分到组1、组2、组3、组1、组2。得到AD、BE、C。它直接生成三组，但没有利用边权，因此只是基线。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课程依据：https://github.com/yongfu-li/eda-learning/tree/main/courses/learn_partitioning/module03-01-multiway-partition</a:t>
            </a:r>
          </a:p>
          <a:p xmlns:a="http://schemas.openxmlformats.org/drawingml/2006/main">
            <a:r>
              <a:t>视觉延续：https://github.com/FanqinZeng/eda-clustering-lab7-kl</a:t>
            </a:r>
          </a:p>
          <a:p xmlns:a="http://schemas.openxmlformats.org/drawingml/2006/main">
            <a:r>
              <a:t>本课源码：https://github.com/FanqinZeng/eda-partitioning-lesson8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逐条核对六条边，AB5、AC1、BC4、CD2、DE5、CE1，合计18。不要因为边连接两个分区就算两次。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课程依据：https://github.com/yongfu-li/eda-learning/tree/main/courses/learn_partitioning/module03-01-multiway-partition</a:t>
            </a:r>
          </a:p>
          <a:p xmlns:a="http://schemas.openxmlformats.org/drawingml/2006/main">
            <a:r>
              <a:t>视觉延续：https://github.com/FanqinZeng/eda-clustering-lab7-kl</a:t>
            </a:r>
          </a:p>
          <a:p xmlns:a="http://schemas.openxmlformats.org/drawingml/2006/main">
            <a:r>
              <a:t>本课源码：https://github.com/FanqinZeng/eda-partitioning-lesson8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本例第一刀保留紧密的ABC与DE两团，形成ABC和DE。此时ABC有3个节点，这是中间状态，还不是满足最终容量的三路划分。第一刀跨区边只有CD2、CE1，所以代价3。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课程依据：https://github.com/yongfu-li/eda-learning/tree/main/courses/learn_partitioning/module03-01-multiway-partition</a:t>
            </a:r>
          </a:p>
          <a:p xmlns:a="http://schemas.openxmlformats.org/drawingml/2006/main">
            <a:r>
              <a:t>视觉延续：https://github.com/FanqinZeng/eda-clustering-lab7-kl</a:t>
            </a:r>
          </a:p>
          <a:p xmlns:a="http://schemas.openxmlformats.org/drawingml/2006/main">
            <a:r>
              <a:t>本课源码：https://github.com/FanqinZeng/eda-partitioning-lesson8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只在ABC子图继续二分为AB与C。新增跨区边AC1和BC4，新增代价5。第一刀的CD与CE仍跨区，不重新累加一次。因此最终3+5=8。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课程依据：https://github.com/yongfu-li/eda-learning/tree/main/courses/learn_partitioning/module03-01-multiway-partition</a:t>
            </a:r>
          </a:p>
          <a:p xmlns:a="http://schemas.openxmlformats.org/drawingml/2006/main">
            <a:r>
              <a:t>视觉延续：https://github.com/FanqinZeng/eda-clustering-lab7-kl</a:t>
            </a:r>
          </a:p>
          <a:p xmlns:a="http://schemas.openxmlformats.org/drawingml/2006/main">
            <a:r>
              <a:t>本课源码：https://github.com/FanqinZeng/eda-partitioning-lesson8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树中的叶子对应最终三组。第一次把5节点分成ABC与DE，第二次只细分ABC。k不是2的幂时，不要求每个分支深度相同。树形演示特定教学结果，一般算法还需指定如何选块、如何二分与容量处理。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课程依据：https://github.com/yongfu-li/eda-learning/tree/main/courses/learn_partitioning/module03-01-multiway-partition</a:t>
            </a:r>
          </a:p>
          <a:p xmlns:a="http://schemas.openxmlformats.org/drawingml/2006/main">
            <a:r>
              <a:t>视觉延续：https://github.com/FanqinZeng/eda-clustering-lab7-kl</a:t>
            </a:r>
          </a:p>
          <a:p xmlns:a="http://schemas.openxmlformats.org/drawingml/2006/main">
            <a:r>
              <a:t>本课源码：https://github.com/FanqinZeng/eda-partitioning-lesson8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公平比较保持同一张图、同样的容量要求。两种结果的分区大小多重集合都是2、2、1。差10来自AB5与DE5两条大边在递归结果里成为组内边。其余AC、BC、CD、CE两方案均跨区，合计8。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课程依据：https://github.com/yongfu-li/eda-learning/tree/main/courses/learn_partitioning/module03-01-multiway-partition</a:t>
            </a:r>
          </a:p>
          <a:p xmlns:a="http://schemas.openxmlformats.org/drawingml/2006/main">
            <a:r>
              <a:t>视觉延续：https://github.com/FanqinZeng/eda-clustering-lab7-kl</a:t>
            </a:r>
          </a:p>
          <a:p xmlns:a="http://schemas.openxmlformats.org/drawingml/2006/main">
            <a:r>
              <a:t>本课源码：https://github.com/FanqinZeng/eda-partitioning-lesson8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从AD、BE、C出发，交换D和B，得到AB、DE、C，代价从18下降到8。交换保持两组各2人。该演示只是一个显而易见的交换，不是完整k-way FM算法，也不能据此把轮询代表所有直接多路优化算法。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课程依据：https://github.com/yongfu-li/eda-learning/tree/main/courses/learn_partitioning/module03-01-multiway-partition</a:t>
            </a:r>
          </a:p>
          <a:p xmlns:a="http://schemas.openxmlformats.org/drawingml/2006/main">
            <a:r>
              <a:t>视觉延续：https://github.com/FanqinZeng/eda-clustering-lab7-kl</a:t>
            </a:r>
          </a:p>
          <a:p xmlns:a="http://schemas.openxmlformats.org/drawingml/2006/main">
            <a:r>
              <a:t>本课源码：https://github.com/FanqinZeng/eda-partitioning-lesson8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练习仅重新评价同样两个分组，不预先声称修改后递归求解器仍会产生相同结果。把AB从5改为1，轮询代价少4变14；AB在递归方案中为组内边，原有递归方案代价仍8，差距变6。算法重新运行可能重新选择切分。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课程依据：https://github.com/yongfu-li/eda-learning/tree/main/courses/learn_partitioning/module03-01-multiway-partition</a:t>
            </a:r>
          </a:p>
          <a:p xmlns:a="http://schemas.openxmlformats.org/drawingml/2006/main">
            <a:r>
              <a:t>视觉延续：https://github.com/FanqinZeng/eda-clustering-lab7-kl</a:t>
            </a:r>
          </a:p>
          <a:p xmlns:a="http://schemas.openxmlformats.org/drawingml/2006/main">
            <a:r>
              <a:t>本课源码：https://github.com/FanqinZeng/eda-partitioning-lesson8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对于5个单位节点，每组容量上限为2。k=2总容量4，小于5，必然不可行。若改为k=2且上限3，ABC与DE合法，割代价3。k=3且上限2得到本课问题。不同约束的问题不能直接按代价评判优劣。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课程依据：https://github.com/yongfu-li/eda-learning/tree/main/courses/learn_partitioning/module03-01-multiway-partition</a:t>
            </a:r>
          </a:p>
          <a:p xmlns:a="http://schemas.openxmlformats.org/drawingml/2006/main">
            <a:r>
              <a:t>视觉延续：https://github.com/FanqinZeng/eda-clustering-lab7-kl</a:t>
            </a:r>
          </a:p>
          <a:p xmlns:a="http://schemas.openxmlformats.org/drawingml/2006/main">
            <a:r>
              <a:t>本课源码：https://github.com/FanqinZeng/eda-partitioning-lesson8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3个有标签分区枚举，在非空、单位容量上限2下有90个可行分配。穷举证明此图最小割为8，忽略标签后对应AB、C、DE。该结论只针对这张小图。一般递归二分启发式不保证全局最优，局部平衡不必然保证最终统一容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课程依据：https://github.com/yongfu-li/eda-learning/tree/main/courses/learn_partitioning/module03-01-multiway-partition</a:t>
            </a:r>
          </a:p>
          <a:p xmlns:a="http://schemas.openxmlformats.org/drawingml/2006/main">
            <a:r>
              <a:t>视觉延续：https://github.com/FanqinZeng/eda-clustering-lab7-kl</a:t>
            </a:r>
          </a:p>
          <a:p xmlns:a="http://schemas.openxmlformats.org/drawingml/2006/main">
            <a:r>
              <a:t>本课源码：https://github.com/FanqinZeng/eda-partitioning-lesson8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学生先手算参考图，再在实验台逐步观察，再修改一个参数记录结果。报告至少包括输入图与容量、方法和分组、逐边割代价与大小、修改前后的差异解释。完整八题练习与解析见配套讲义。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课程依据：https://github.com/yongfu-li/eda-learning/tree/main/courses/learn_partitioning/module03-01-multiway-partition</a:t>
            </a:r>
          </a:p>
          <a:p xmlns:a="http://schemas.openxmlformats.org/drawingml/2006/main">
            <a:r>
              <a:t>视觉延续：https://github.com/FanqinZeng/eda-clustering-lab7-kl</a:t>
            </a:r>
          </a:p>
          <a:p xmlns:a="http://schemas.openxmlformats.org/drawingml/2006/main">
            <a:r>
              <a:t>本课源码：https://github.com/FanqinZeng/eda-partitioning-lesson8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回顾：多路划分需要同时考虑目标和约束。本课轮询18，递归示例8，同样的大小多重集合2、2、1。差10来自AB与DE两条重边留在组内。直接多路方法可进行更广泛的改进，递归方法也有局限。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课程依据：https://github.com/yongfu-li/eda-learning/tree/main/courses/learn_partitioning/module03-01-multiway-partition</a:t>
            </a:r>
          </a:p>
          <a:p xmlns:a="http://schemas.openxmlformats.org/drawingml/2006/main">
            <a:r>
              <a:t>视觉延续：https://github.com/FanqinZeng/eda-clustering-lab7-kl</a:t>
            </a:r>
          </a:p>
          <a:p xmlns:a="http://schemas.openxmlformats.org/drawingml/2006/main">
            <a:r>
              <a:t>本课源码：https://github.com/FanqinZeng/eda-partitioning-lesson8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143fc9e6c2429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16adcbfba84eb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5ca67f24b2436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affaa1416b413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b2f953d8c945e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e3bc6d50564c3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88E9AE4-5122-4C5D-99B4-95995BC3D4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349A86F-D226-4EC1-8674-0B9C9D12770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2C676B8-02DA-4959-AF71-4DB0574E5C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20FCA87-2941-4AC1-A721-58747B9A85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BECC95A-7CF0-48BF-A0A2-39A7BD9F3DE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8A61036-E9F4-436A-AF71-67048D185D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79E47F8-C81A-4C4C-A468-049C514931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F391F00-F857-4FED-B891-2A6F61FBD1C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E61FFBD-AFD0-4D03-BC09-87E4EAAA6B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F2D1A8B-D6D0-4338-86C7-1A841C8C8D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6e3122e96a241b7" /><Relationship Type="http://schemas.openxmlformats.org/officeDocument/2006/relationships/slideLayout" Target="/ppt/slideLayouts/slideLayout1.xml" Id="R17c5b81ae08e40f6" /><Relationship Type="http://schemas.openxmlformats.org/officeDocument/2006/relationships/slideLayout" Target="/ppt/slideLayouts/slideLayout2.xml" Id="Rae706db4dc8b4aa4" /><Relationship Type="http://schemas.openxmlformats.org/officeDocument/2006/relationships/slideLayout" Target="/ppt/slideLayouts/slideLayout3.xml" Id="R47d7a4a4aeea48f6" /><Relationship Type="http://schemas.openxmlformats.org/officeDocument/2006/relationships/slideLayout" Target="/ppt/slideLayouts/slideLayout4.xml" Id="Re636cb927f204289" /><Relationship Type="http://schemas.openxmlformats.org/officeDocument/2006/relationships/slideLayout" Target="/ppt/slideLayouts/slideLayout5.xml" Id="Rd8ca5a48d42a4817" /><Relationship Type="http://schemas.openxmlformats.org/officeDocument/2006/relationships/slideLayout" Target="/ppt/slideLayouts/slideLayout6.xml" Id="R26b33b762bf343a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7c5b81ae08e40f6"/>
    <p:sldLayoutId xmlns:r="http://schemas.openxmlformats.org/officeDocument/2006/relationships" id="2147483650" r:id="Rae706db4dc8b4aa4"/>
    <p:sldLayoutId xmlns:r="http://schemas.openxmlformats.org/officeDocument/2006/relationships" id="2147483651" r:id="R47d7a4a4aeea48f6"/>
    <p:sldLayoutId xmlns:r="http://schemas.openxmlformats.org/officeDocument/2006/relationships" id="2147483652" r:id="Re636cb927f204289"/>
    <p:sldLayoutId xmlns:r="http://schemas.openxmlformats.org/officeDocument/2006/relationships" id="2147483653" r:id="Rd8ca5a48d42a4817"/>
    <p:sldLayoutId xmlns:r="http://schemas.openxmlformats.org/officeDocument/2006/relationships" id="2147483654" r:id="R26b33b762bf343a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d72387320045b3" /><Relationship Type="http://schemas.openxmlformats.org/officeDocument/2006/relationships/notesSlide" Target="/ppt/notesSlides/notesSlide1.xml" Id="R7d583c3ec776407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7990247fd44982" /><Relationship Type="http://schemas.openxmlformats.org/officeDocument/2006/relationships/notesSlide" Target="/ppt/notesSlides/notesSlide2.xml" Id="Rc322fcd2317543f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2d030499164b96" /><Relationship Type="http://schemas.openxmlformats.org/officeDocument/2006/relationships/notesSlide" Target="/ppt/notesSlides/notesSlide3.xml" Id="R5252d67a4b21476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ef86300ec74d46" /><Relationship Type="http://schemas.openxmlformats.org/officeDocument/2006/relationships/notesSlide" Target="/ppt/notesSlides/notesSlide4.xml" Id="R83f5702ace644a2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e01be3b9fc4921" /><Relationship Type="http://schemas.openxmlformats.org/officeDocument/2006/relationships/notesSlide" Target="/ppt/notesSlides/notesSlide5.xml" Id="R6fb8f38e4ee544b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b3082a31284987" /><Relationship Type="http://schemas.openxmlformats.org/officeDocument/2006/relationships/notesSlide" Target="/ppt/notesSlides/notesSlide6.xml" Id="Rbb9b0eeed3d64ad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1ed652c1f6426a" /><Relationship Type="http://schemas.openxmlformats.org/officeDocument/2006/relationships/notesSlide" Target="/ppt/notesSlides/notesSlide7.xml" Id="Rb0bf398fefc8409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44d4a567ba4a3e" /><Relationship Type="http://schemas.openxmlformats.org/officeDocument/2006/relationships/notesSlide" Target="/ppt/notesSlides/notesSlide8.xml" Id="Rd224b0067dda459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a5a6574ab84079" /><Relationship Type="http://schemas.openxmlformats.org/officeDocument/2006/relationships/notesSlide" Target="/ppt/notesSlides/notesSlide9.xml" Id="Rc85280c635d84c7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fd6611caea4689" /><Relationship Type="http://schemas.openxmlformats.org/officeDocument/2006/relationships/notesSlide" Target="/ppt/notesSlides/notesSlide10.xml" Id="Raa8a7254d97e416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d995fbffef4dd6" /><Relationship Type="http://schemas.openxmlformats.org/officeDocument/2006/relationships/notesSlide" Target="/ppt/notesSlides/notesSlide11.xml" Id="R12e76d901380432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6b01367bf04096" /><Relationship Type="http://schemas.openxmlformats.org/officeDocument/2006/relationships/notesSlide" Target="/ppt/notesSlides/notesSlide12.xml" Id="R44c3d9f62a4949c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fb810820114add" /><Relationship Type="http://schemas.openxmlformats.org/officeDocument/2006/relationships/notesSlide" Target="/ppt/notesSlides/notesSlide13.xml" Id="R1cbaa993c07f4c7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fe45a4a08d4ebf" /><Relationship Type="http://schemas.openxmlformats.org/officeDocument/2006/relationships/notesSlide" Target="/ppt/notesSlides/notesSlide14.xml" Id="Rc7ab942304c1489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0316dbe74748d6" /><Relationship Type="http://schemas.openxmlformats.org/officeDocument/2006/relationships/notesSlide" Target="/ppt/notesSlides/notesSlide15.xml" Id="R545a0af5cab442c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f28c4bc0764f6c" /><Relationship Type="http://schemas.openxmlformats.org/officeDocument/2006/relationships/notesSlide" Target="/ppt/notesSlides/notesSlide16.xml" Id="R190f3aa4c877434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29181D-841D-40B6-997C-E22D13B19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rPr>
              <a:t>LESSON 8   多路划分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8F41D7-9EE3-4957-AA7C-A18634E2C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47650"/>
            <a:ext cx="70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defPPr>
            <a:lvl1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1pPr>
            <a:lvl2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2pPr>
            <a:lvl3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3pPr>
            <a:lvl4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4pPr>
            <a:lvl5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5pPr>
            <a:lvl6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6pPr>
            <a:lvl7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7pPr>
            <a:lvl8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8pPr>
            <a:lvl9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84ECA8-666E-4F2A-BDA5-2B3AC33F7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28675"/>
            <a:ext cx="11125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rPr>
              <a:t>分成三组，怎样少一点跨组沟通？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70FF43-C625-4FA5-962A-934E53ABD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33400" y="1809750"/>
            <a:ext cx="111252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259C59-471B-4295-B54B-E4D68FEA2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38375"/>
            <a:ext cx="6477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625" b="0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2625" b="0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2625" b="0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2625" b="0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2625" b="0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2625" b="0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2625" b="0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2625" b="0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2625" b="0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2625" b="0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2625" b="0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625" b="0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rPr>
              <a:t>从五位同学的合作分组</a:t>
            </a:r>
          </a:p>
          <a:p xmlns:a="http://schemas.openxmlformats.org/drawingml/2006/main">
            <a:pPr algn="l">
              <a:defRPr sz="2625" b="0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625" b="0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rPr>
              <a:t>认识 Multiway Partitioning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9BC376-8053-4D59-8B0C-FCF505833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29075"/>
            <a:ext cx="647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025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2025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2025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2025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2025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2025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2025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2025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2025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2025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rPr>
              <a:t>同一张图 · 相同人数约束</a:t>
            </a:r>
          </a:p>
          <a:p xmlns:a="http://schemas.openxmlformats.org/drawingml/2006/main">
            <a:pPr algn="l">
              <a:defRPr sz="2025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rPr>
              <a:t>两种分法，为什么代价差 10？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CB2EF2-EA4E-49A4-917D-666112D29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57450"/>
            <a:ext cx="1047750" cy="2619375"/>
          </a:xfrm>
          <a:prstGeom xmlns:a="http://schemas.openxmlformats.org/drawingml/2006/main" prst="roundRect">
            <a:avLst>
              <a:gd name="adj" fmla="val 16364"/>
            </a:avLst>
          </a:prstGeom>
          <a:solidFill xmlns:a="http://schemas.openxmlformats.org/drawingml/2006/main">
            <a:srgbClr val="E0EEE6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309B4B-164C-41A3-ADD0-09DCC1DBD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00325"/>
            <a:ext cx="895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35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defRPr sz="135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defRPr sz="135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defRPr sz="135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defRPr sz="135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defRPr sz="135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defRPr sz="135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defRPr sz="135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defRPr sz="135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defRPr sz="135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rPr>
              <a:t>组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3DEAB1-E6AA-434C-A535-769220042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57450"/>
            <a:ext cx="1047750" cy="2619375"/>
          </a:xfrm>
          <a:prstGeom xmlns:a="http://schemas.openxmlformats.org/drawingml/2006/main" prst="roundRect">
            <a:avLst>
              <a:gd name="adj" fmla="val 16364"/>
            </a:avLst>
          </a:prstGeom>
          <a:solidFill xmlns:a="http://schemas.openxmlformats.org/drawingml/2006/main">
            <a:srgbClr val="E5EBF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6D3AEC-A600-4726-91A4-E1C1B1AB0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600325"/>
            <a:ext cx="895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350" b="1">
                <a:solidFill>
                  <a:srgbClr val="365F95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defRPr sz="1350" b="1">
                <a:solidFill>
                  <a:srgbClr val="365F95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defRPr sz="1350" b="1">
                <a:solidFill>
                  <a:srgbClr val="365F95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defRPr sz="1350" b="1">
                <a:solidFill>
                  <a:srgbClr val="365F95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defRPr sz="1350" b="1">
                <a:solidFill>
                  <a:srgbClr val="365F95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defRPr sz="1350" b="1">
                <a:solidFill>
                  <a:srgbClr val="365F95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defRPr sz="1350" b="1">
                <a:solidFill>
                  <a:srgbClr val="365F95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defRPr sz="1350" b="1">
                <a:solidFill>
                  <a:srgbClr val="365F95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defRPr sz="1350" b="1">
                <a:solidFill>
                  <a:srgbClr val="365F95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defRPr sz="1350" b="1">
                <a:solidFill>
                  <a:srgbClr val="365F95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365F9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365F95"/>
                </a:solidFill>
                <a:latin typeface="Arial Unicode MS"/>
                <a:ea typeface="Arial Unicode MS"/>
                <a:cs typeface="Arial Unicode MS"/>
              </a:rPr>
              <a:t>组 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6DA430-71A1-421F-979A-F212CB95E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457450"/>
            <a:ext cx="1047750" cy="2619375"/>
          </a:xfrm>
          <a:prstGeom xmlns:a="http://schemas.openxmlformats.org/drawingml/2006/main" prst="roundRect">
            <a:avLst>
              <a:gd name="adj" fmla="val 16364"/>
            </a:avLst>
          </a:prstGeom>
          <a:solidFill xmlns:a="http://schemas.openxmlformats.org/drawingml/2006/main">
            <a:srgbClr val="EEE7F2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8F0E04-025B-4224-BD50-FA3893C99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600325"/>
            <a:ext cx="895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350" b="1">
                <a:solidFill>
                  <a:srgbClr val="82639D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defRPr sz="1350" b="1">
                <a:solidFill>
                  <a:srgbClr val="82639D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defRPr sz="1350" b="1">
                <a:solidFill>
                  <a:srgbClr val="82639D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defRPr sz="1350" b="1">
                <a:solidFill>
                  <a:srgbClr val="82639D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defRPr sz="1350" b="1">
                <a:solidFill>
                  <a:srgbClr val="82639D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defRPr sz="1350" b="1">
                <a:solidFill>
                  <a:srgbClr val="82639D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defRPr sz="1350" b="1">
                <a:solidFill>
                  <a:srgbClr val="82639D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defRPr sz="1350" b="1">
                <a:solidFill>
                  <a:srgbClr val="82639D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defRPr sz="1350" b="1">
                <a:solidFill>
                  <a:srgbClr val="82639D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defRPr sz="1350" b="1">
                <a:solidFill>
                  <a:srgbClr val="82639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82639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82639D"/>
                </a:solidFill>
                <a:latin typeface="Arial Unicode MS"/>
                <a:ea typeface="Arial Unicode MS"/>
                <a:cs typeface="Arial Unicode MS"/>
              </a:rPr>
              <a:t>组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F9137A-362E-4625-BF88-21D208996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32575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8C8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33020E-B715-4AB3-9568-BF1AE8BFD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3257550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EB38B1-DEB5-42CB-A16D-61F68FE42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42100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8C87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40330C-7885-4A0C-832F-DAC6AF0D9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4210050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CE30E5-2378-4555-AF09-5AF831462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7338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5F9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157609-84EF-451B-8DD3-C2088B867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733800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817A70-FB90-4D85-9B36-FF7152707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32575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2639D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01970D-3683-4506-952D-4EE34924A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3257550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729849-F6C2-4F8E-A7AC-778285EFC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42100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2639D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195567-13A1-4A56-BEB0-577135E48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4210050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D13FF6-FFD5-48A0-8A35-99BD0725A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43600"/>
            <a:ext cx="1112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rPr>
              <a:t>Lesson 8 · 五节点图 · k = 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086EF9-6988-4D10-B6A3-4B69427ED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11125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05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05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05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05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05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05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05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05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05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05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rPr>
              <a:t>FanQin Zeng / EDA Learning</a:t>
            </a:r>
          </a:p>
        </p:txBody>
      </p:sp>
    </p:spTree>
    <p:extLst>
      <p:ext uri="{BB962C8B-B14F-4D97-AF65-F5344CB8AC3E}">
        <p14:creationId xmlns:p14="http://schemas.microsoft.com/office/powerpoint/2010/main" val="11290077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0A6A30-353C-4016-BEC5-6757B2C13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rPr>
              <a:t>LESSON 8   多路划分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C85E81-8D59-4730-9673-9CC3C0820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47650"/>
            <a:ext cx="70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defPPr>
            <a:lvl1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1pPr>
            <a:lvl2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2pPr>
            <a:lvl3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3pPr>
            <a:lvl4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4pPr>
            <a:lvl5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5pPr>
            <a:lvl6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6pPr>
            <a:lvl7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7pPr>
            <a:lvl8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8pPr>
            <a:lvl9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DF0629-3E88-4176-80E9-ED1B4CEF4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28675"/>
            <a:ext cx="11125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rPr>
              <a:t>先固定规则，分法才有可比性。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1E2C1C-1214-4D8C-8F79-611816C85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33400" y="1809750"/>
            <a:ext cx="111252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2"/>
            </a:solidFill>
          </a:ln>
        </p:spPr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2FAF7C-016C-4318-B498-51E026E34E81}"/>
              </a:ext>
            </a:extLst>
          </p:cNvPr>
          <p:cNvGraphicFramePr/>
          <p:nvPr/>
        </p:nvGraphicFramePr>
        <p:xfrm>
          <a:off xmlns:a="http://schemas.openxmlformats.org/drawingml/2006/main" x="666750" y="2219325"/>
          <a:ext xmlns:a="http://schemas.openxmlformats.org/drawingml/2006/main" cx="108585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3619500"/>
                <a:gridCol w="3619500"/>
              </a:tblGrid>
              <a:tr h="628650"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637A8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生活问题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0DCD6"/>
                      </a:solidFill>
                      <a:prstDash val="solid"/>
                    </a:lnL>
                    <a:lnR w="9525">
                      <a:solidFill>
                        <a:srgbClr val="D0DCD6"/>
                      </a:solidFill>
                      <a:prstDash val="solid"/>
                    </a:lnR>
                    <a:lnT w="9525">
                      <a:solidFill>
                        <a:srgbClr val="D0DCD6"/>
                      </a:solidFill>
                      <a:prstDash val="solid"/>
                    </a:lnT>
                    <a:lnB w="9525">
                      <a:solidFill>
                        <a:srgbClr val="D0DCD6"/>
                      </a:solidFill>
                      <a:prstDash val="solid"/>
                    </a:lnB>
                    <a:solidFill>
                      <a:srgbClr val="DFEA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637A8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图模型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CD6"/>
                      </a:solidFill>
                      <a:prstDash val="solid"/>
                    </a:lnR>
                    <a:lnT w="9525">
                      <a:solidFill>
                        <a:srgbClr val="D0DCD6"/>
                      </a:solidFill>
                      <a:prstDash val="solid"/>
                    </a:lnT>
                    <a:lnB w="9525">
                      <a:solidFill>
                        <a:srgbClr val="D0DCD6"/>
                      </a:solidFill>
                      <a:prstDash val="solid"/>
                    </a:lnB>
                    <a:solidFill>
                      <a:srgbClr val="DFEA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637A8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本课设定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CD6"/>
                      </a:solidFill>
                      <a:prstDash val="solid"/>
                    </a:lnR>
                    <a:lnT w="9525">
                      <a:solidFill>
                        <a:srgbClr val="D0DCD6"/>
                      </a:solidFill>
                      <a:prstDash val="solid"/>
                    </a:lnT>
                    <a:lnB w="9525">
                      <a:solidFill>
                        <a:srgbClr val="D0DCD6"/>
                      </a:solidFill>
                      <a:prstDash val="solid"/>
                    </a:lnB>
                    <a:solidFill>
                      <a:srgbClr val="DFEAE2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5364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五位同学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0DCD6"/>
                      </a:solidFill>
                      <a:prstDash val="solid"/>
                    </a:lnL>
                    <a:lnR w="9525">
                      <a:solidFill>
                        <a:srgbClr val="D0DCD6"/>
                      </a:solidFill>
                      <a:prstDash val="solid"/>
                    </a:lnR>
                    <a:lnB w="9525">
                      <a:solidFill>
                        <a:srgbClr val="D0D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5364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节点 A、B、C、D、E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CD6"/>
                      </a:solidFill>
                      <a:prstDash val="solid"/>
                    </a:lnR>
                    <a:lnB w="9525">
                      <a:solidFill>
                        <a:srgbClr val="D0D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5364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每个节点大小 = 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CD6"/>
                      </a:solidFill>
                      <a:prstDash val="solid"/>
                    </a:lnR>
                    <a:lnB w="9525">
                      <a:solidFill>
                        <a:srgbClr val="D0D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5364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合作频次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0DCD6"/>
                      </a:solidFill>
                      <a:prstDash val="solid"/>
                    </a:lnL>
                    <a:lnR w="9525">
                      <a:solidFill>
                        <a:srgbClr val="D0DCD6"/>
                      </a:solidFill>
                      <a:prstDash val="solid"/>
                    </a:lnR>
                    <a:lnB w="9525">
                      <a:solidFill>
                        <a:srgbClr val="D0DCD6"/>
                      </a:solidFill>
                      <a:prstDash val="solid"/>
                    </a:lnB>
                    <a:solidFill>
                      <a:srgbClr val="EDF1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5364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无向边的权重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CD6"/>
                      </a:solidFill>
                      <a:prstDash val="solid"/>
                    </a:lnR>
                    <a:lnB w="9525">
                      <a:solidFill>
                        <a:srgbClr val="D0DCD6"/>
                      </a:solidFill>
                      <a:prstDash val="solid"/>
                    </a:lnB>
                    <a:solidFill>
                      <a:srgbClr val="EDF1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5364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数值越大，联系越紧密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CD6"/>
                      </a:solidFill>
                      <a:prstDash val="solid"/>
                    </a:lnR>
                    <a:lnB w="9525">
                      <a:solidFill>
                        <a:srgbClr val="D0DCD6"/>
                      </a:solidFill>
                      <a:prstDash val="solid"/>
                    </a:lnB>
                    <a:solidFill>
                      <a:srgbClr val="EDF1E9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5364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分成三组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0DCD6"/>
                      </a:solidFill>
                      <a:prstDash val="solid"/>
                    </a:lnL>
                    <a:lnR w="9525">
                      <a:solidFill>
                        <a:srgbClr val="D0DCD6"/>
                      </a:solidFill>
                      <a:prstDash val="solid"/>
                    </a:lnR>
                    <a:lnB w="9525">
                      <a:solidFill>
                        <a:srgbClr val="D0D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5364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k = 3 个分区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CD6"/>
                      </a:solidFill>
                      <a:prstDash val="solid"/>
                    </a:lnR>
                    <a:lnB w="9525">
                      <a:solidFill>
                        <a:srgbClr val="D0D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5364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各组非空，容量不超过 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CD6"/>
                      </a:solidFill>
                      <a:prstDash val="solid"/>
                    </a:lnR>
                    <a:lnB w="9525">
                      <a:solidFill>
                        <a:srgbClr val="D0D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5364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跨组协调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0DCD6"/>
                      </a:solidFill>
                      <a:prstDash val="solid"/>
                    </a:lnL>
                    <a:lnR w="9525">
                      <a:solidFill>
                        <a:srgbClr val="D0DCD6"/>
                      </a:solidFill>
                      <a:prstDash val="solid"/>
                    </a:lnR>
                    <a:lnB w="9525">
                      <a:solidFill>
                        <a:srgbClr val="D0DCD6"/>
                      </a:solidFill>
                      <a:prstDash val="solid"/>
                    </a:lnB>
                    <a:solidFill>
                      <a:srgbClr val="EDF1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5364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跨区边权之和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CD6"/>
                      </a:solidFill>
                      <a:prstDash val="solid"/>
                    </a:lnR>
                    <a:lnB w="9525">
                      <a:solidFill>
                        <a:srgbClr val="D0DCD6"/>
                      </a:solidFill>
                      <a:prstDash val="solid"/>
                    </a:lnB>
                    <a:solidFill>
                      <a:srgbClr val="EDF1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5364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在满足容量的分法中尽量小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CD6"/>
                      </a:solidFill>
                      <a:prstDash val="solid"/>
                    </a:lnR>
                    <a:lnB w="9525">
                      <a:solidFill>
                        <a:srgbClr val="D0DCD6"/>
                      </a:solidFill>
                      <a:prstDash val="solid"/>
                    </a:lnB>
                    <a:solidFill>
                      <a:srgbClr val="EDF1E9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1F906C-FB78-4304-8B17-547AC086D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43600"/>
            <a:ext cx="1112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rPr>
              <a:t>允许 2、2、1；把所有人放在一组不满足容量。</a:t>
            </a:r>
          </a:p>
        </p:txBody>
      </p:sp>
    </p:spTree>
    <p:extLst>
      <p:ext uri="{BB962C8B-B14F-4D97-AF65-F5344CB8AC3E}">
        <p14:creationId xmlns:p14="http://schemas.microsoft.com/office/powerpoint/2010/main" val="16422862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9D988EB-BFC5-4EA8-A236-A9AEE4367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rPr>
              <a:t>LESSON 8   多路划分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CB1218-EE34-4E5D-800B-D96394925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47650"/>
            <a:ext cx="70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defPPr>
            <a:lvl1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1pPr>
            <a:lvl2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2pPr>
            <a:lvl3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3pPr>
            <a:lvl4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4pPr>
            <a:lvl5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5pPr>
            <a:lvl6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6pPr>
            <a:lvl7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7pPr>
            <a:lvl8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8pPr>
            <a:lvl9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B44002-6525-4A4D-9546-024DD45A8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28675"/>
            <a:ext cx="11125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rPr>
              <a:t>边权，表示想留在同组的联系。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8CF857-778B-4DCB-92E7-1DF595EC9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33400" y="1809750"/>
            <a:ext cx="111252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809E11-CBE1-427A-9F8A-50E1C63A1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714500" y="2809875"/>
            <a:ext cx="238125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3">
            <a:solidFill>
              <a:srgbClr val="158C87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66E093-7696-47E9-8223-450DAC373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005138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E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8AE759-472A-4BFE-B1FA-5DF131AEC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005138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87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defRPr sz="187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defRPr sz="187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defRPr sz="187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defRPr sz="187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defRPr sz="187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defRPr sz="187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defRPr sz="187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defRPr sz="187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defRPr sz="187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rPr>
              <a:t>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2C4421-F7C9-4DD6-8B22-67A6C14F1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714500" y="3143250"/>
            <a:ext cx="4381500" cy="1476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91ABA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095641-37C0-4754-B922-3A287AA78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529013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E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DE8472-A4DE-4886-BFC7-0BE530629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529013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875" b="1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defRPr sz="1875" b="1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defRPr sz="1875" b="1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defRPr sz="1875" b="1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defRPr sz="1875" b="1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defRPr sz="1875" b="1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defRPr sz="1875" b="1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defRPr sz="1875" b="1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defRPr sz="1875" b="1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defRPr sz="1875" b="1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3DD56D-6970-46B4-B8F3-4F9330F2B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095750" y="2809875"/>
            <a:ext cx="2000250" cy="1809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6195">
            <a:solidFill>
              <a:srgbClr val="91ABAD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A266EE-3338-44AF-904A-5D61E7B5B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7433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ED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3850CB-CF11-4DCA-92B5-70D0811AC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7433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875" b="1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defRPr sz="1875" b="1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defRPr sz="1875" b="1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defRPr sz="1875" b="1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defRPr sz="1875" b="1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defRPr sz="1875" b="1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defRPr sz="1875" b="1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defRPr sz="1875" b="1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defRPr sz="1875" b="1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defRPr sz="1875" b="1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73D877-2B83-4CC3-9240-B381F19F7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096000" y="2809875"/>
            <a:ext cx="2381250" cy="1809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91ABAD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D7696E-C3AC-4022-AB8C-2B4C85F32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3623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ED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491714-F6D0-4DFC-A3A3-9AFF0CEA7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3623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875" b="1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defRPr sz="1875" b="1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defRPr sz="1875" b="1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defRPr sz="1875" b="1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defRPr sz="1875" b="1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defRPr sz="1875" b="1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defRPr sz="1875" b="1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defRPr sz="1875" b="1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defRPr sz="1875" b="1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defRPr sz="1875" b="1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D3991A-D4C6-4A94-862E-FB543A496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477250" y="2809875"/>
            <a:ext cx="219075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3">
            <a:solidFill>
              <a:srgbClr val="158C87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280E5B-0859-472E-9139-816E460F5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005138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ED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7DC9EB-D3B9-44B8-B07F-BF8AB7728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005138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87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defRPr sz="187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defRPr sz="187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defRPr sz="187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defRPr sz="187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defRPr sz="187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defRPr sz="187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defRPr sz="187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defRPr sz="187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defRPr sz="187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683B66-A385-4F4F-8267-776AD9C16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096000" y="3143250"/>
            <a:ext cx="4572000" cy="1476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91ABAD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CD05FA-7815-4969-9DE3-E00ACBDE5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529013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ED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E8CCB2-4A23-4578-9D7B-EF3F3C1C2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529013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875" b="1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defRPr sz="1875" b="1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defRPr sz="1875" b="1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defRPr sz="1875" b="1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defRPr sz="1875" b="1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defRPr sz="1875" b="1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defRPr sz="1875" b="1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defRPr sz="1875" b="1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defRPr sz="1875" b="1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defRPr sz="1875" b="1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84ADEB-A978-4E19-8BD8-0F5E857F2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8765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8C87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23DFBC-939C-43F6-BB91-66CAD274E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876550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41C2AF-081F-4080-A875-E398FE2C3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54317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8C87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7CE8B6-8288-49EF-BE6B-18D1ED735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543175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B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D5DB7B-3CD5-481F-BDE1-0DBD9620F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35292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8C87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020B62-141D-4E34-8149-B0073F16B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352925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C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2CF9ED-0CDB-490A-9D43-31194946D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54317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8C87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07C831D-A7B5-4790-955B-B207CBD1B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543175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DE39F6D-2A34-488C-89ED-5B79A949E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8765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8C87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24E4F17-EC27-4879-B71F-2D461EC78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876550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055313A-4551-445D-85A6-87DA0BABF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43600"/>
            <a:ext cx="1112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rPr>
              <a:t>A–B 与 D–E 的权重都是 5，值得特别留意。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5C389BA-5D08-4493-972B-7C8999798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11125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05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05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05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05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05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05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05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05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05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05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rPr>
              <a:t>边表：AB 5，AC 1，BC 4，CD 2，DE 5，CE 1。</a:t>
            </a:r>
          </a:p>
        </p:txBody>
      </p:sp>
    </p:spTree>
    <p:extLst>
      <p:ext uri="{BB962C8B-B14F-4D97-AF65-F5344CB8AC3E}">
        <p14:creationId xmlns:p14="http://schemas.microsoft.com/office/powerpoint/2010/main" val="263557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9AE213-DCF0-46DB-B296-12C1CA385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rPr>
              <a:t>LESSON 8   多路划分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FAC874-F6C4-485C-88EE-3218A8435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47650"/>
            <a:ext cx="70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defPPr>
            <a:lvl1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1pPr>
            <a:lvl2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2pPr>
            <a:lvl3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3pPr>
            <a:lvl4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4pPr>
            <a:lvl5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5pPr>
            <a:lvl6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6pPr>
            <a:lvl7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7pPr>
            <a:lvl8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8pPr>
            <a:lvl9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7874BA-5D2F-4764-B71E-1825C5954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28675"/>
            <a:ext cx="11125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rPr>
              <a:t>割代价，只累加跨区边。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3248D6-A193-47A1-90E0-242942A4D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33400" y="1809750"/>
            <a:ext cx="111252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4DAF5E-83E0-40FF-9A77-E867A7795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81250"/>
            <a:ext cx="1076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315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defRPr sz="315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defRPr sz="315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defRPr sz="315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defRPr sz="315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defRPr sz="315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defRPr sz="315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defRPr sz="315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defRPr sz="315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defRPr sz="315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rPr>
              <a:t>cut(P) = Σ w(u,v) · [p(u) ≠ p(v)]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947BA9-4981-47FB-AD90-29848B8A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2250" b="0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defRPr sz="2250" b="0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defRPr sz="2250" b="0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defRPr sz="2250" b="0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defRPr sz="2250" b="0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defRPr sz="2250" b="0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defRPr sz="2250" b="0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defRPr sz="2250" b="0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defRPr sz="2250" b="0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defRPr sz="2250" b="0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defRPr sz="2250" b="0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rPr>
              <a:t>每条无向边算一次。组内边贡献 0。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E9CAF4-C363-4694-A841-7E33D1390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809750" y="4448175"/>
            <a:ext cx="8572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2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314E70-8ABF-4D35-B1FF-C402E7CE2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476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325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2325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2325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2325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2325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2325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2325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2325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2325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2325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rPr>
              <a:t>目标：让 cut 尽量小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7375B6-2193-41AA-9B7F-4B580EAFB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762500"/>
            <a:ext cx="5334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175" b="1">
                <a:solidFill>
                  <a:srgbClr val="D77635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2175" b="1">
                <a:solidFill>
                  <a:srgbClr val="D77635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2175" b="1">
                <a:solidFill>
                  <a:srgbClr val="D77635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2175" b="1">
                <a:solidFill>
                  <a:srgbClr val="D77635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2175" b="1">
                <a:solidFill>
                  <a:srgbClr val="D77635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2175" b="1">
                <a:solidFill>
                  <a:srgbClr val="D77635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2175" b="1">
                <a:solidFill>
                  <a:srgbClr val="D77635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2175" b="1">
                <a:solidFill>
                  <a:srgbClr val="D77635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2175" b="1">
                <a:solidFill>
                  <a:srgbClr val="D77635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2175" b="1">
                <a:solidFill>
                  <a:srgbClr val="D77635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D776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D77635"/>
                </a:solidFill>
                <a:latin typeface="Arial Unicode MS"/>
                <a:ea typeface="Arial Unicode MS"/>
                <a:cs typeface="Arial Unicode MS"/>
              </a:rPr>
              <a:t>约束：三组非空，每组大小 ≤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6D07EC-12DA-458A-B3B9-AE29A8DCB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43600"/>
            <a:ext cx="1112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rPr>
              <a:t>先检查容量，再比较割代价。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A035EB-462D-48D0-BDCA-2EF56C48C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11125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05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05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05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05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05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05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05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05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05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05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rPr>
              <a:t>若节点代表不同面积的单元，应累计面积而非人数。</a:t>
            </a:r>
          </a:p>
        </p:txBody>
      </p:sp>
    </p:spTree>
    <p:extLst>
      <p:ext uri="{BB962C8B-B14F-4D97-AF65-F5344CB8AC3E}">
        <p14:creationId xmlns:p14="http://schemas.microsoft.com/office/powerpoint/2010/main" val="20400182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EC44C3-1623-4589-A8B3-0642F546E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rPr>
              <a:t>LESSON 8   多路划分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B33234-1AB8-4A4C-9CE8-E02DF3781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47650"/>
            <a:ext cx="70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defPPr>
            <a:lvl1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1pPr>
            <a:lvl2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2pPr>
            <a:lvl3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3pPr>
            <a:lvl4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4pPr>
            <a:lvl5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5pPr>
            <a:lvl6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6pPr>
            <a:lvl7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7pPr>
            <a:lvl8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8pPr>
            <a:lvl9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4594F1-CF80-4CEB-AF21-A4DC1E679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28675"/>
            <a:ext cx="11125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rPr>
              <a:t>轮询分配：按字母依次放进三组。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B66CBE-62D1-4CDD-BC47-011F3221C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33400" y="1809750"/>
            <a:ext cx="111252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426275-ECFF-48AC-A52B-71ECA35DE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2762250" cy="2857500"/>
          </a:xfrm>
          <a:prstGeom xmlns:a="http://schemas.openxmlformats.org/drawingml/2006/main" prst="roundRect">
            <a:avLst>
              <a:gd name="adj" fmla="val 6207"/>
            </a:avLst>
          </a:prstGeom>
          <a:solidFill xmlns:a="http://schemas.openxmlformats.org/drawingml/2006/main">
            <a:srgbClr val="E0EEE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7DA7F7-1C00-42FD-92B2-1C294DE73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76500"/>
            <a:ext cx="2419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42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42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42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42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42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42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42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42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42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42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rPr>
              <a:t>第 1 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C05D71-CBE3-4BF1-B31D-6D40C7A00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381250"/>
            <a:ext cx="2762250" cy="2857500"/>
          </a:xfrm>
          <a:prstGeom xmlns:a="http://schemas.openxmlformats.org/drawingml/2006/main" prst="roundRect">
            <a:avLst>
              <a:gd name="adj" fmla="val 6207"/>
            </a:avLst>
          </a:prstGeom>
          <a:solidFill xmlns:a="http://schemas.openxmlformats.org/drawingml/2006/main">
            <a:srgbClr val="E5EBF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998E05-A1BC-4F20-94D0-370F2A4FA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476500"/>
            <a:ext cx="2419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425" b="1">
                <a:solidFill>
                  <a:srgbClr val="365F95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425" b="1">
                <a:solidFill>
                  <a:srgbClr val="365F95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425" b="1">
                <a:solidFill>
                  <a:srgbClr val="365F95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425" b="1">
                <a:solidFill>
                  <a:srgbClr val="365F95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425" b="1">
                <a:solidFill>
                  <a:srgbClr val="365F95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425" b="1">
                <a:solidFill>
                  <a:srgbClr val="365F95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425" b="1">
                <a:solidFill>
                  <a:srgbClr val="365F95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425" b="1">
                <a:solidFill>
                  <a:srgbClr val="365F95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425" b="1">
                <a:solidFill>
                  <a:srgbClr val="365F95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425" b="1">
                <a:solidFill>
                  <a:srgbClr val="365F95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365F9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365F95"/>
                </a:solidFill>
                <a:latin typeface="Arial Unicode MS"/>
                <a:ea typeface="Arial Unicode MS"/>
                <a:cs typeface="Arial Unicode MS"/>
              </a:rPr>
              <a:t>第 2 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63CEB3-DAA3-4857-9510-A92E4A018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81250"/>
            <a:ext cx="2762250" cy="2857500"/>
          </a:xfrm>
          <a:prstGeom xmlns:a="http://schemas.openxmlformats.org/drawingml/2006/main" prst="roundRect">
            <a:avLst>
              <a:gd name="adj" fmla="val 6207"/>
            </a:avLst>
          </a:prstGeom>
          <a:solidFill xmlns:a="http://schemas.openxmlformats.org/drawingml/2006/main">
            <a:srgbClr val="EEE7F2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017354-8860-4B40-9831-E173D1A4C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476500"/>
            <a:ext cx="2419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425" b="1">
                <a:solidFill>
                  <a:srgbClr val="82639D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425" b="1">
                <a:solidFill>
                  <a:srgbClr val="82639D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425" b="1">
                <a:solidFill>
                  <a:srgbClr val="82639D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425" b="1">
                <a:solidFill>
                  <a:srgbClr val="82639D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425" b="1">
                <a:solidFill>
                  <a:srgbClr val="82639D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425" b="1">
                <a:solidFill>
                  <a:srgbClr val="82639D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425" b="1">
                <a:solidFill>
                  <a:srgbClr val="82639D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425" b="1">
                <a:solidFill>
                  <a:srgbClr val="82639D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425" b="1">
                <a:solidFill>
                  <a:srgbClr val="82639D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425" b="1">
                <a:solidFill>
                  <a:srgbClr val="82639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82639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82639D"/>
                </a:solidFill>
                <a:latin typeface="Arial Unicode MS"/>
                <a:ea typeface="Arial Unicode MS"/>
                <a:cs typeface="Arial Unicode MS"/>
              </a:rPr>
              <a:t>第 3 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9E1DB3-2238-477B-8F28-58E953D79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333625" y="3286125"/>
            <a:ext cx="37623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5719">
            <a:solidFill>
              <a:srgbClr val="D77635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3BDD1E-0210-4611-91AE-470239023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333625" y="3286125"/>
            <a:ext cx="7524750" cy="666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764">
            <a:solidFill>
              <a:srgbClr val="D77635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4A7BF2-DE6E-421C-A9C2-179179555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0" y="3286125"/>
            <a:ext cx="3762375" cy="666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D7763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E3D71B-DABC-45C7-BD93-DDAD0AF0E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2333625" y="3952875"/>
            <a:ext cx="7524750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003">
            <a:solidFill>
              <a:srgbClr val="D77635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BD8623-B9E2-4519-B74D-25D27AC9F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333625" y="4810125"/>
            <a:ext cx="37623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5719">
            <a:solidFill>
              <a:srgbClr val="D77635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C100E4-B20C-4D82-A83F-3D55BB42A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6096000" y="3952875"/>
            <a:ext cx="3762375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764">
            <a:solidFill>
              <a:srgbClr val="D77635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AA5599-6539-4B78-8B01-948970D59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01942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8C8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ACF92D-2CE4-45E8-88FE-6FD593D5F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019425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10B18F-1949-4057-ABD0-D3B900693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54342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8C87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407D22-57B8-4331-A292-9DA2CF614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543425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B0A22F-5EB9-48C0-8699-F55F707E2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01942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5F95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3D773A-244B-489D-A096-AA1463EBF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019425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B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47F780-3801-4A2B-A466-D57F54CD5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54342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5F95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94104F-73EA-447E-AEBC-EB2B6C320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543425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54864B-91AB-4359-A349-42659F3B5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368617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2639D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CC5635-239A-4837-8FB7-2A68F7EB0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3686175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C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6E59CA-6119-4FB0-A46F-5652F927A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43600"/>
            <a:ext cx="1112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rPr>
              <a:t>A、D 同组；B、E 同组；C 单独一组。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CE752D9-A0DF-42E4-9E63-38B08EA62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11125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05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05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05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05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05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05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05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05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05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05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rPr>
              <a:t>人数为 2、2、1。橙线均跨区，权重总和为 18。</a:t>
            </a:r>
          </a:p>
        </p:txBody>
      </p:sp>
    </p:spTree>
    <p:extLst>
      <p:ext uri="{BB962C8B-B14F-4D97-AF65-F5344CB8AC3E}">
        <p14:creationId xmlns:p14="http://schemas.microsoft.com/office/powerpoint/2010/main" val="137782945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F659F7-DA3F-4813-8272-FADD03554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rPr>
              <a:t>LESSON 8   多路划分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231A24-1178-4CF8-8904-5A972C5B4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47650"/>
            <a:ext cx="70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defPPr>
            <a:lvl1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1pPr>
            <a:lvl2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2pPr>
            <a:lvl3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3pPr>
            <a:lvl4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4pPr>
            <a:lvl5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5pPr>
            <a:lvl6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6pPr>
            <a:lvl7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7pPr>
            <a:lvl8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8pPr>
            <a:lvl9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639782-D01E-4FFD-97E1-DD927AC7A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28675"/>
            <a:ext cx="11125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rPr>
              <a:t>轮询的六条边，全部跨区。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C25518-095F-4567-948D-C1F45CB95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33400" y="1809750"/>
            <a:ext cx="111252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2"/>
            </a:solidFill>
          </a:ln>
        </p:spPr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62A24A-DFD6-451E-916F-D33BBBA5A9B5}"/>
              </a:ext>
            </a:extLst>
          </p:cNvPr>
          <p:cNvGraphicFramePr/>
          <p:nvPr/>
        </p:nvGraphicFramePr>
        <p:xfrm>
          <a:off xmlns:a="http://schemas.openxmlformats.org/drawingml/2006/main" x="666750" y="2362200"/>
          <a:ext xmlns:a="http://schemas.openxmlformats.org/drawingml/2006/main" cx="10858500" cy="2047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51214"/>
                <a:gridCol w="1551214"/>
                <a:gridCol w="1551214"/>
                <a:gridCol w="1551214"/>
                <a:gridCol w="1551214"/>
                <a:gridCol w="1551214"/>
                <a:gridCol w="1551214"/>
              </a:tblGrid>
              <a:tr h="682625"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637A8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边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0DCD6"/>
                      </a:solidFill>
                      <a:prstDash val="solid"/>
                    </a:lnL>
                    <a:lnR w="9525">
                      <a:solidFill>
                        <a:srgbClr val="D0DCD6"/>
                      </a:solidFill>
                      <a:prstDash val="solid"/>
                    </a:lnR>
                    <a:lnT w="9525">
                      <a:solidFill>
                        <a:srgbClr val="D0DCD6"/>
                      </a:solidFill>
                      <a:prstDash val="solid"/>
                    </a:lnT>
                    <a:lnB w="9525">
                      <a:solidFill>
                        <a:srgbClr val="D0DCD6"/>
                      </a:solidFill>
                      <a:prstDash val="solid"/>
                    </a:lnB>
                    <a:solidFill>
                      <a:srgbClr val="DFEA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637A8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A–B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CD6"/>
                      </a:solidFill>
                      <a:prstDash val="solid"/>
                    </a:lnR>
                    <a:lnT w="9525">
                      <a:solidFill>
                        <a:srgbClr val="D0DCD6"/>
                      </a:solidFill>
                      <a:prstDash val="solid"/>
                    </a:lnT>
                    <a:lnB w="9525">
                      <a:solidFill>
                        <a:srgbClr val="D0DCD6"/>
                      </a:solidFill>
                      <a:prstDash val="solid"/>
                    </a:lnB>
                    <a:solidFill>
                      <a:srgbClr val="DFEA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637A8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A–C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CD6"/>
                      </a:solidFill>
                      <a:prstDash val="solid"/>
                    </a:lnR>
                    <a:lnT w="9525">
                      <a:solidFill>
                        <a:srgbClr val="D0DCD6"/>
                      </a:solidFill>
                      <a:prstDash val="solid"/>
                    </a:lnT>
                    <a:lnB w="9525">
                      <a:solidFill>
                        <a:srgbClr val="D0DCD6"/>
                      </a:solidFill>
                      <a:prstDash val="solid"/>
                    </a:lnB>
                    <a:solidFill>
                      <a:srgbClr val="DFEA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637A8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B–C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CD6"/>
                      </a:solidFill>
                      <a:prstDash val="solid"/>
                    </a:lnR>
                    <a:lnT w="9525">
                      <a:solidFill>
                        <a:srgbClr val="D0DCD6"/>
                      </a:solidFill>
                      <a:prstDash val="solid"/>
                    </a:lnT>
                    <a:lnB w="9525">
                      <a:solidFill>
                        <a:srgbClr val="D0DCD6"/>
                      </a:solidFill>
                      <a:prstDash val="solid"/>
                    </a:lnB>
                    <a:solidFill>
                      <a:srgbClr val="DFEA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637A8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C–D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CD6"/>
                      </a:solidFill>
                      <a:prstDash val="solid"/>
                    </a:lnR>
                    <a:lnT w="9525">
                      <a:solidFill>
                        <a:srgbClr val="D0DCD6"/>
                      </a:solidFill>
                      <a:prstDash val="solid"/>
                    </a:lnT>
                    <a:lnB w="9525">
                      <a:solidFill>
                        <a:srgbClr val="D0DCD6"/>
                      </a:solidFill>
                      <a:prstDash val="solid"/>
                    </a:lnB>
                    <a:solidFill>
                      <a:srgbClr val="DFEA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637A8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D–E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CD6"/>
                      </a:solidFill>
                      <a:prstDash val="solid"/>
                    </a:lnR>
                    <a:lnT w="9525">
                      <a:solidFill>
                        <a:srgbClr val="D0DCD6"/>
                      </a:solidFill>
                      <a:prstDash val="solid"/>
                    </a:lnT>
                    <a:lnB w="9525">
                      <a:solidFill>
                        <a:srgbClr val="D0DCD6"/>
                      </a:solidFill>
                      <a:prstDash val="solid"/>
                    </a:lnB>
                    <a:solidFill>
                      <a:srgbClr val="DFEA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637A8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C–E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CD6"/>
                      </a:solidFill>
                      <a:prstDash val="solid"/>
                    </a:lnR>
                    <a:lnT w="9525">
                      <a:solidFill>
                        <a:srgbClr val="D0DCD6"/>
                      </a:solidFill>
                      <a:prstDash val="solid"/>
                    </a:lnT>
                    <a:lnB w="9525">
                      <a:solidFill>
                        <a:srgbClr val="D0DCD6"/>
                      </a:solidFill>
                      <a:prstDash val="solid"/>
                    </a:lnB>
                    <a:solidFill>
                      <a:srgbClr val="DFEAE2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5364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权重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0DCD6"/>
                      </a:solidFill>
                      <a:prstDash val="solid"/>
                    </a:lnL>
                    <a:lnR w="9525">
                      <a:solidFill>
                        <a:srgbClr val="D0DCD6"/>
                      </a:solidFill>
                      <a:prstDash val="solid"/>
                    </a:lnR>
                    <a:lnB w="9525">
                      <a:solidFill>
                        <a:srgbClr val="D0D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5364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CD6"/>
                      </a:solidFill>
                      <a:prstDash val="solid"/>
                    </a:lnR>
                    <a:lnB w="9525">
                      <a:solidFill>
                        <a:srgbClr val="D0D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5364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CD6"/>
                      </a:solidFill>
                      <a:prstDash val="solid"/>
                    </a:lnR>
                    <a:lnB w="9525">
                      <a:solidFill>
                        <a:srgbClr val="D0D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5364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CD6"/>
                      </a:solidFill>
                      <a:prstDash val="solid"/>
                    </a:lnR>
                    <a:lnB w="9525">
                      <a:solidFill>
                        <a:srgbClr val="D0D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5364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CD6"/>
                      </a:solidFill>
                      <a:prstDash val="solid"/>
                    </a:lnR>
                    <a:lnB w="9525">
                      <a:solidFill>
                        <a:srgbClr val="D0D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5364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CD6"/>
                      </a:solidFill>
                      <a:prstDash val="solid"/>
                    </a:lnR>
                    <a:lnB w="9525">
                      <a:solidFill>
                        <a:srgbClr val="D0D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5364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CD6"/>
                      </a:solidFill>
                      <a:prstDash val="solid"/>
                    </a:lnR>
                    <a:lnB w="9525">
                      <a:solidFill>
                        <a:srgbClr val="D0D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5364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是否跨区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0DCD6"/>
                      </a:solidFill>
                      <a:prstDash val="solid"/>
                    </a:lnL>
                    <a:lnR w="9525">
                      <a:solidFill>
                        <a:srgbClr val="D0DCD6"/>
                      </a:solidFill>
                      <a:prstDash val="solid"/>
                    </a:lnR>
                    <a:lnB w="9525">
                      <a:solidFill>
                        <a:srgbClr val="D0DCD6"/>
                      </a:solidFill>
                      <a:prstDash val="solid"/>
                    </a:lnB>
                    <a:solidFill>
                      <a:srgbClr val="EDF1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5364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是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CD6"/>
                      </a:solidFill>
                      <a:prstDash val="solid"/>
                    </a:lnR>
                    <a:lnB w="9525">
                      <a:solidFill>
                        <a:srgbClr val="D0DCD6"/>
                      </a:solidFill>
                      <a:prstDash val="solid"/>
                    </a:lnB>
                    <a:solidFill>
                      <a:srgbClr val="EDF1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5364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是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CD6"/>
                      </a:solidFill>
                      <a:prstDash val="solid"/>
                    </a:lnR>
                    <a:lnB w="9525">
                      <a:solidFill>
                        <a:srgbClr val="D0DCD6"/>
                      </a:solidFill>
                      <a:prstDash val="solid"/>
                    </a:lnB>
                    <a:solidFill>
                      <a:srgbClr val="EDF1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5364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是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CD6"/>
                      </a:solidFill>
                      <a:prstDash val="solid"/>
                    </a:lnR>
                    <a:lnB w="9525">
                      <a:solidFill>
                        <a:srgbClr val="D0DCD6"/>
                      </a:solidFill>
                      <a:prstDash val="solid"/>
                    </a:lnB>
                    <a:solidFill>
                      <a:srgbClr val="EDF1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5364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是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CD6"/>
                      </a:solidFill>
                      <a:prstDash val="solid"/>
                    </a:lnR>
                    <a:lnB w="9525">
                      <a:solidFill>
                        <a:srgbClr val="D0DCD6"/>
                      </a:solidFill>
                      <a:prstDash val="solid"/>
                    </a:lnB>
                    <a:solidFill>
                      <a:srgbClr val="EDF1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5364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是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CD6"/>
                      </a:solidFill>
                      <a:prstDash val="solid"/>
                    </a:lnR>
                    <a:lnB w="9525">
                      <a:solidFill>
                        <a:srgbClr val="D0DCD6"/>
                      </a:solidFill>
                      <a:prstDash val="solid"/>
                    </a:lnB>
                    <a:solidFill>
                      <a:srgbClr val="EDF1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5364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是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CD6"/>
                      </a:solidFill>
                      <a:prstDash val="solid"/>
                    </a:lnR>
                    <a:lnB w="9525">
                      <a:solidFill>
                        <a:srgbClr val="D0DCD6"/>
                      </a:solidFill>
                      <a:prstDash val="solid"/>
                    </a:lnB>
                    <a:solidFill>
                      <a:srgbClr val="EDF1E9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399AD5-A2BC-460F-BE27-E6541B536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800600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2925" b="1">
                <a:solidFill>
                  <a:srgbClr val="D77635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defRPr sz="2925" b="1">
                <a:solidFill>
                  <a:srgbClr val="D77635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defRPr sz="2925" b="1">
                <a:solidFill>
                  <a:srgbClr val="D77635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defRPr sz="2925" b="1">
                <a:solidFill>
                  <a:srgbClr val="D77635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defRPr sz="2925" b="1">
                <a:solidFill>
                  <a:srgbClr val="D77635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defRPr sz="2925" b="1">
                <a:solidFill>
                  <a:srgbClr val="D77635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defRPr sz="2925" b="1">
                <a:solidFill>
                  <a:srgbClr val="D77635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defRPr sz="2925" b="1">
                <a:solidFill>
                  <a:srgbClr val="D77635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defRPr sz="2925" b="1">
                <a:solidFill>
                  <a:srgbClr val="D77635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defRPr sz="2925" b="1">
                <a:solidFill>
                  <a:srgbClr val="D77635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defRPr sz="2925" b="1">
                <a:solidFill>
                  <a:srgbClr val="D776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925" b="1">
                <a:solidFill>
                  <a:srgbClr val="D77635"/>
                </a:solidFill>
                <a:latin typeface="Arial Unicode MS"/>
                <a:ea typeface="Arial Unicode MS"/>
                <a:cs typeface="Arial Unicode MS"/>
              </a:rPr>
              <a:t>cut = 5 + 1 + 4 + 2 + 5 + 1 = 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A27C21-33FE-4CCF-9EC3-D2369B8E0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43600"/>
            <a:ext cx="1112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rPr>
              <a:t>人数满足要求，仍可能产生很高的割代价。</a:t>
            </a:r>
          </a:p>
        </p:txBody>
      </p:sp>
    </p:spTree>
    <p:extLst>
      <p:ext uri="{BB962C8B-B14F-4D97-AF65-F5344CB8AC3E}">
        <p14:creationId xmlns:p14="http://schemas.microsoft.com/office/powerpoint/2010/main" val="14196357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9A1B9BA-E81F-4DF5-B0B6-C099B3DD3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rPr>
              <a:t>LESSON 8   多路划分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744620-B03A-412D-AD49-BA30DC75D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47650"/>
            <a:ext cx="70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defPPr>
            <a:lvl1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1pPr>
            <a:lvl2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2pPr>
            <a:lvl3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3pPr>
            <a:lvl4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4pPr>
            <a:lvl5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5pPr>
            <a:lvl6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6pPr>
            <a:lvl7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7pPr>
            <a:lvl8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8pPr>
            <a:lvl9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EF8602-0529-4BD0-9833-1506E930E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28675"/>
            <a:ext cx="11125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rPr>
              <a:t>递归二分：先把 ABC 与 DE 分开。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E6D812-21BE-4CAD-8F21-FF755BFA3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33400" y="1809750"/>
            <a:ext cx="111252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2B03E1-C62C-483E-B3E1-2E91C19A6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190750"/>
            <a:ext cx="3524250" cy="3190875"/>
          </a:xfrm>
          <a:prstGeom xmlns:a="http://schemas.openxmlformats.org/drawingml/2006/main" prst="roundRect">
            <a:avLst>
              <a:gd name="adj" fmla="val 5373"/>
            </a:avLst>
          </a:prstGeom>
          <a:solidFill xmlns:a="http://schemas.openxmlformats.org/drawingml/2006/main">
            <a:srgbClr val="E0EEE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5E9BE0-6805-4281-A415-C3E37340A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2286000"/>
            <a:ext cx="3181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42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42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42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42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42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42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42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42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42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42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rPr>
              <a:t>待继续细分：ABC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92DB11-5F51-46EB-B05E-41FF60A2B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190750"/>
            <a:ext cx="3524250" cy="3190875"/>
          </a:xfrm>
          <a:prstGeom xmlns:a="http://schemas.openxmlformats.org/drawingml/2006/main" prst="roundRect">
            <a:avLst>
              <a:gd name="adj" fmla="val 5373"/>
            </a:avLst>
          </a:prstGeom>
          <a:solidFill xmlns:a="http://schemas.openxmlformats.org/drawingml/2006/main">
            <a:srgbClr val="E5EBF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487A41-2B2C-4497-8EA3-FDA805F4F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286000"/>
            <a:ext cx="3181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425" b="1">
                <a:solidFill>
                  <a:srgbClr val="365F95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425" b="1">
                <a:solidFill>
                  <a:srgbClr val="365F95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425" b="1">
                <a:solidFill>
                  <a:srgbClr val="365F95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425" b="1">
                <a:solidFill>
                  <a:srgbClr val="365F95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425" b="1">
                <a:solidFill>
                  <a:srgbClr val="365F95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425" b="1">
                <a:solidFill>
                  <a:srgbClr val="365F95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425" b="1">
                <a:solidFill>
                  <a:srgbClr val="365F95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425" b="1">
                <a:solidFill>
                  <a:srgbClr val="365F95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425" b="1">
                <a:solidFill>
                  <a:srgbClr val="365F95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425" b="1">
                <a:solidFill>
                  <a:srgbClr val="365F95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365F9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365F95"/>
                </a:solidFill>
                <a:latin typeface="Arial Unicode MS"/>
                <a:ea typeface="Arial Unicode MS"/>
                <a:cs typeface="Arial Unicode MS"/>
              </a:rPr>
              <a:t>已完成：DE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47E1A8-5833-4190-A163-12ACB8691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714625" y="3286125"/>
            <a:ext cx="14287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5719">
            <a:solidFill>
              <a:srgbClr val="93ACA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B31ACA-1B02-4246-9754-0D20CE202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000375"/>
            <a:ext cx="28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ED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D0BE11-E0F1-4707-A3E3-F9B64D794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00037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575" b="1">
                <a:solidFill>
                  <a:srgbClr val="93ACAC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defRPr sz="1575" b="1">
                <a:solidFill>
                  <a:srgbClr val="93ACAC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defRPr sz="1575" b="1">
                <a:solidFill>
                  <a:srgbClr val="93ACAC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defRPr sz="1575" b="1">
                <a:solidFill>
                  <a:srgbClr val="93ACAC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defRPr sz="1575" b="1">
                <a:solidFill>
                  <a:srgbClr val="93ACAC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defRPr sz="1575" b="1">
                <a:solidFill>
                  <a:srgbClr val="93ACAC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defRPr sz="1575" b="1">
                <a:solidFill>
                  <a:srgbClr val="93ACAC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defRPr sz="1575" b="1">
                <a:solidFill>
                  <a:srgbClr val="93ACAC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defRPr sz="1575" b="1">
                <a:solidFill>
                  <a:srgbClr val="93ACAC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defRPr sz="1575" b="1">
                <a:solidFill>
                  <a:srgbClr val="93ACAC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93ACA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93ACAC"/>
                </a:solidFill>
                <a:latin typeface="Arial Unicode MS"/>
                <a:ea typeface="Arial Unicode MS"/>
                <a:cs typeface="Arial Unicode MS"/>
              </a:rPr>
              <a:t>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630301-D805-4C87-8A53-0D530B02D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714625" y="3286125"/>
            <a:ext cx="714375" cy="1571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764">
            <a:solidFill>
              <a:srgbClr val="93ACA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3B745E-9B99-4780-85EE-5CBDA3293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9388" y="3824288"/>
            <a:ext cx="28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ED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35E0B0-66A1-4EB8-A535-76F7290BD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9388" y="3824288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575" b="1">
                <a:solidFill>
                  <a:srgbClr val="93ACAC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defRPr sz="1575" b="1">
                <a:solidFill>
                  <a:srgbClr val="93ACAC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defRPr sz="1575" b="1">
                <a:solidFill>
                  <a:srgbClr val="93ACAC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defRPr sz="1575" b="1">
                <a:solidFill>
                  <a:srgbClr val="93ACAC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defRPr sz="1575" b="1">
                <a:solidFill>
                  <a:srgbClr val="93ACAC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defRPr sz="1575" b="1">
                <a:solidFill>
                  <a:srgbClr val="93ACAC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defRPr sz="1575" b="1">
                <a:solidFill>
                  <a:srgbClr val="93ACAC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defRPr sz="1575" b="1">
                <a:solidFill>
                  <a:srgbClr val="93ACAC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defRPr sz="1575" b="1">
                <a:solidFill>
                  <a:srgbClr val="93ACAC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defRPr sz="1575" b="1">
                <a:solidFill>
                  <a:srgbClr val="93ACAC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93ACA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93ACAC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2C7CBE-25AA-4F41-B1EB-86A69A813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3429000" y="3286125"/>
            <a:ext cx="714375" cy="1571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93ACAC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3CD7BD-08F6-4D3B-84C8-546217DEE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4763" y="4110038"/>
            <a:ext cx="28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ED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B3288D-EC07-4DA2-B296-E9F9EA159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4763" y="4110038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575" b="1">
                <a:solidFill>
                  <a:srgbClr val="93ACAC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defRPr sz="1575" b="1">
                <a:solidFill>
                  <a:srgbClr val="93ACAC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defRPr sz="1575" b="1">
                <a:solidFill>
                  <a:srgbClr val="93ACAC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defRPr sz="1575" b="1">
                <a:solidFill>
                  <a:srgbClr val="93ACAC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defRPr sz="1575" b="1">
                <a:solidFill>
                  <a:srgbClr val="93ACAC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defRPr sz="1575" b="1">
                <a:solidFill>
                  <a:srgbClr val="93ACAC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defRPr sz="1575" b="1">
                <a:solidFill>
                  <a:srgbClr val="93ACAC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defRPr sz="1575" b="1">
                <a:solidFill>
                  <a:srgbClr val="93ACAC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defRPr sz="1575" b="1">
                <a:solidFill>
                  <a:srgbClr val="93ACAC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defRPr sz="1575" b="1">
                <a:solidFill>
                  <a:srgbClr val="93ACAC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93ACA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93ACAC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04FC96-1EB6-47D5-8583-2DA2AE687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429000" y="3095625"/>
            <a:ext cx="5334000" cy="1762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003">
            <a:solidFill>
              <a:srgbClr val="D77635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E2EDEC-2EC2-49B6-8141-5C29FCD6A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3690938"/>
            <a:ext cx="28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ED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90ABCF-406D-439E-AE58-4B2EA8F0B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3690938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575" b="1">
                <a:solidFill>
                  <a:srgbClr val="D77635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defRPr sz="1575" b="1">
                <a:solidFill>
                  <a:srgbClr val="D77635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defRPr sz="1575" b="1">
                <a:solidFill>
                  <a:srgbClr val="D77635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defRPr sz="1575" b="1">
                <a:solidFill>
                  <a:srgbClr val="D77635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defRPr sz="1575" b="1">
                <a:solidFill>
                  <a:srgbClr val="D77635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defRPr sz="1575" b="1">
                <a:solidFill>
                  <a:srgbClr val="D77635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defRPr sz="1575" b="1">
                <a:solidFill>
                  <a:srgbClr val="D77635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defRPr sz="1575" b="1">
                <a:solidFill>
                  <a:srgbClr val="D77635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defRPr sz="1575" b="1">
                <a:solidFill>
                  <a:srgbClr val="D77635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defRPr sz="1575" b="1">
                <a:solidFill>
                  <a:srgbClr val="D77635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D776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D77635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68BF32-1D2A-4F41-A1A3-FF04668A8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763000" y="3095625"/>
            <a:ext cx="953" cy="1857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5719">
            <a:solidFill>
              <a:srgbClr val="93ACAC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C1F644-60BE-4038-9942-3C852C1EB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62413"/>
            <a:ext cx="28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ED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5DD032-B255-4E4F-85E5-496D2296D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62413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575" b="1">
                <a:solidFill>
                  <a:srgbClr val="93ACAC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defRPr sz="1575" b="1">
                <a:solidFill>
                  <a:srgbClr val="93ACAC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defRPr sz="1575" b="1">
                <a:solidFill>
                  <a:srgbClr val="93ACAC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defRPr sz="1575" b="1">
                <a:solidFill>
                  <a:srgbClr val="93ACAC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defRPr sz="1575" b="1">
                <a:solidFill>
                  <a:srgbClr val="93ACAC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defRPr sz="1575" b="1">
                <a:solidFill>
                  <a:srgbClr val="93ACAC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defRPr sz="1575" b="1">
                <a:solidFill>
                  <a:srgbClr val="93ACAC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defRPr sz="1575" b="1">
                <a:solidFill>
                  <a:srgbClr val="93ACAC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defRPr sz="1575" b="1">
                <a:solidFill>
                  <a:srgbClr val="93ACAC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defRPr sz="1575" b="1">
                <a:solidFill>
                  <a:srgbClr val="93ACAC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93ACA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93ACAC"/>
                </a:solidFill>
                <a:latin typeface="Arial Unicode MS"/>
                <a:ea typeface="Arial Unicode MS"/>
                <a:cs typeface="Arial Unicode MS"/>
              </a:rPr>
              <a:t>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AEEF1E-EE8C-4B6B-B0CD-1CC7F7ECC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429000" y="4857750"/>
            <a:ext cx="533400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764">
            <a:solidFill>
              <a:srgbClr val="D77635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69E166-EF1F-4FBB-A815-7909C3EFF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43475"/>
            <a:ext cx="28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ED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742875-1180-43B9-893E-069741036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4347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575" b="1">
                <a:solidFill>
                  <a:srgbClr val="D77635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defRPr sz="1575" b="1">
                <a:solidFill>
                  <a:srgbClr val="D77635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defRPr sz="1575" b="1">
                <a:solidFill>
                  <a:srgbClr val="D77635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defRPr sz="1575" b="1">
                <a:solidFill>
                  <a:srgbClr val="D77635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defRPr sz="1575" b="1">
                <a:solidFill>
                  <a:srgbClr val="D77635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defRPr sz="1575" b="1">
                <a:solidFill>
                  <a:srgbClr val="D77635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defRPr sz="1575" b="1">
                <a:solidFill>
                  <a:srgbClr val="D77635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defRPr sz="1575" b="1">
                <a:solidFill>
                  <a:srgbClr val="D77635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defRPr sz="1575" b="1">
                <a:solidFill>
                  <a:srgbClr val="D77635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defRPr sz="1575" b="1">
                <a:solidFill>
                  <a:srgbClr val="D77635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D776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D77635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95A30C-FC62-4BD4-AD8B-4E2FA34C8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301942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8C87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5585565-26EB-4568-B863-600864086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3019425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4970A3-A593-4880-A0A1-D89237F69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01942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8C87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0B7232B-8965-4677-B345-342EFC190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019425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B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358088E-8EC0-4C91-BF27-972A0A669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5910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8C87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DFAC042-D6B9-4AF3-BB9A-7ACAC6EBC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591050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C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C8D28EA-E228-43D7-8C3A-98CDCA645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82892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5F95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086C51A-7A23-442B-995D-549699A40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828925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8C0E422-2646-4C0A-9437-06AEE0961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6863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5F95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8584E6D-2B4C-44F0-A153-B6BDB406C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686300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001C6FB-A7A3-4DD3-A238-B63D1653D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43600"/>
            <a:ext cx="1112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rPr>
              <a:t>第一刀跨区边：C–D = 2，C–E = 1，合计 3。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21ECB99-F3F7-452A-8255-D65F734D7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11125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05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05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05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05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05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05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05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05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05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05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rPr>
              <a:t>ABC 含 3 个节点，仍需细分，当前状态尚未满足最终容量。</a:t>
            </a:r>
          </a:p>
        </p:txBody>
      </p:sp>
    </p:spTree>
    <p:extLst>
      <p:ext uri="{BB962C8B-B14F-4D97-AF65-F5344CB8AC3E}">
        <p14:creationId xmlns:p14="http://schemas.microsoft.com/office/powerpoint/2010/main" val="117312039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17713D2-C4AD-488D-9BD4-D7C9188F7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rPr>
              <a:t>LESSON 8   多路划分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C4353D-9DDE-4B27-AB78-E3313B926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47650"/>
            <a:ext cx="70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defPPr>
            <a:lvl1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1pPr>
            <a:lvl2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2pPr>
            <a:lvl3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3pPr>
            <a:lvl4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4pPr>
            <a:lvl5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5pPr>
            <a:lvl6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6pPr>
            <a:lvl7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7pPr>
            <a:lvl8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8pPr>
            <a:lvl9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C5EB81-B14A-457E-B417-79C796975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28675"/>
            <a:ext cx="11125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rPr>
              <a:t>再分 ABC，得到 AB、C、DE。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BE99CE-2460-408C-9040-0296FD66A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33400" y="1809750"/>
            <a:ext cx="111252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243B9B-833D-467B-A940-01D3BA5C0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2762250" cy="2857500"/>
          </a:xfrm>
          <a:prstGeom xmlns:a="http://schemas.openxmlformats.org/drawingml/2006/main" prst="roundRect">
            <a:avLst>
              <a:gd name="adj" fmla="val 6207"/>
            </a:avLst>
          </a:prstGeom>
          <a:solidFill xmlns:a="http://schemas.openxmlformats.org/drawingml/2006/main">
            <a:srgbClr val="E0EEE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25CD90-4914-472C-B469-AA6DFE746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76500"/>
            <a:ext cx="2419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42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42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42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42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42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42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42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42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42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42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rPr>
              <a:t>第 1 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29D411-349E-4B9A-BABE-708E5BC15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381250"/>
            <a:ext cx="2762250" cy="2857500"/>
          </a:xfrm>
          <a:prstGeom xmlns:a="http://schemas.openxmlformats.org/drawingml/2006/main" prst="roundRect">
            <a:avLst>
              <a:gd name="adj" fmla="val 6207"/>
            </a:avLst>
          </a:prstGeom>
          <a:solidFill xmlns:a="http://schemas.openxmlformats.org/drawingml/2006/main">
            <a:srgbClr val="E5EBF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EB9464-CE69-43BF-BD0C-5525981E0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476500"/>
            <a:ext cx="2419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425" b="1">
                <a:solidFill>
                  <a:srgbClr val="365F95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425" b="1">
                <a:solidFill>
                  <a:srgbClr val="365F95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425" b="1">
                <a:solidFill>
                  <a:srgbClr val="365F95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425" b="1">
                <a:solidFill>
                  <a:srgbClr val="365F95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425" b="1">
                <a:solidFill>
                  <a:srgbClr val="365F95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425" b="1">
                <a:solidFill>
                  <a:srgbClr val="365F95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425" b="1">
                <a:solidFill>
                  <a:srgbClr val="365F95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425" b="1">
                <a:solidFill>
                  <a:srgbClr val="365F95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425" b="1">
                <a:solidFill>
                  <a:srgbClr val="365F95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425" b="1">
                <a:solidFill>
                  <a:srgbClr val="365F95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365F9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365F95"/>
                </a:solidFill>
                <a:latin typeface="Arial Unicode MS"/>
                <a:ea typeface="Arial Unicode MS"/>
                <a:cs typeface="Arial Unicode MS"/>
              </a:rPr>
              <a:t>第 2 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C66E9C-7AD4-421A-9178-D35DDD675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81250"/>
            <a:ext cx="2762250" cy="2857500"/>
          </a:xfrm>
          <a:prstGeom xmlns:a="http://schemas.openxmlformats.org/drawingml/2006/main" prst="roundRect">
            <a:avLst>
              <a:gd name="adj" fmla="val 6207"/>
            </a:avLst>
          </a:prstGeom>
          <a:solidFill xmlns:a="http://schemas.openxmlformats.org/drawingml/2006/main">
            <a:srgbClr val="EEE7F2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02418D-CB2C-467F-8EF7-79ADF8868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476500"/>
            <a:ext cx="2419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425" b="1">
                <a:solidFill>
                  <a:srgbClr val="82639D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425" b="1">
                <a:solidFill>
                  <a:srgbClr val="82639D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425" b="1">
                <a:solidFill>
                  <a:srgbClr val="82639D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425" b="1">
                <a:solidFill>
                  <a:srgbClr val="82639D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425" b="1">
                <a:solidFill>
                  <a:srgbClr val="82639D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425" b="1">
                <a:solidFill>
                  <a:srgbClr val="82639D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425" b="1">
                <a:solidFill>
                  <a:srgbClr val="82639D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425" b="1">
                <a:solidFill>
                  <a:srgbClr val="82639D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425" b="1">
                <a:solidFill>
                  <a:srgbClr val="82639D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425" b="1">
                <a:solidFill>
                  <a:srgbClr val="82639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82639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82639D"/>
                </a:solidFill>
                <a:latin typeface="Arial Unicode MS"/>
                <a:ea typeface="Arial Unicode MS"/>
                <a:cs typeface="Arial Unicode MS"/>
              </a:rPr>
              <a:t>第 3 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129B03-2D2B-4D97-B2B9-302DAFB0F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333625" y="3286125"/>
            <a:ext cx="953" cy="152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5719">
            <a:solidFill>
              <a:srgbClr val="93ACA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5F3AA5-62D3-4AB8-B9D2-D9112D0F9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762375"/>
            <a:ext cx="28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ED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ECF846-2E69-465B-BCE8-CE95A24AC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76237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575" b="1">
                <a:solidFill>
                  <a:srgbClr val="93ACAC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defRPr sz="1575" b="1">
                <a:solidFill>
                  <a:srgbClr val="93ACAC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defRPr sz="1575" b="1">
                <a:solidFill>
                  <a:srgbClr val="93ACAC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defRPr sz="1575" b="1">
                <a:solidFill>
                  <a:srgbClr val="93ACAC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defRPr sz="1575" b="1">
                <a:solidFill>
                  <a:srgbClr val="93ACAC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defRPr sz="1575" b="1">
                <a:solidFill>
                  <a:srgbClr val="93ACAC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defRPr sz="1575" b="1">
                <a:solidFill>
                  <a:srgbClr val="93ACAC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defRPr sz="1575" b="1">
                <a:solidFill>
                  <a:srgbClr val="93ACAC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defRPr sz="1575" b="1">
                <a:solidFill>
                  <a:srgbClr val="93ACAC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defRPr sz="1575" b="1">
                <a:solidFill>
                  <a:srgbClr val="93ACAC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93ACA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93ACAC"/>
                </a:solidFill>
                <a:latin typeface="Arial Unicode MS"/>
                <a:ea typeface="Arial Unicode MS"/>
                <a:cs typeface="Arial Unicode MS"/>
              </a:rPr>
              <a:t>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FAD988-0A54-4618-BF8F-5543D6752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333625" y="3286125"/>
            <a:ext cx="3762375" cy="666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764">
            <a:solidFill>
              <a:srgbClr val="D77635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E85768-0705-453C-9078-CC0481D98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2388" y="3371850"/>
            <a:ext cx="28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ED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6F6ABD-6E3E-4BDD-9457-DC0F8741C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2388" y="33718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575" b="1">
                <a:solidFill>
                  <a:srgbClr val="D77635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defRPr sz="1575" b="1">
                <a:solidFill>
                  <a:srgbClr val="D77635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defRPr sz="1575" b="1">
                <a:solidFill>
                  <a:srgbClr val="D77635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defRPr sz="1575" b="1">
                <a:solidFill>
                  <a:srgbClr val="D77635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defRPr sz="1575" b="1">
                <a:solidFill>
                  <a:srgbClr val="D77635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defRPr sz="1575" b="1">
                <a:solidFill>
                  <a:srgbClr val="D77635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defRPr sz="1575" b="1">
                <a:solidFill>
                  <a:srgbClr val="D77635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defRPr sz="1575" b="1">
                <a:solidFill>
                  <a:srgbClr val="D77635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defRPr sz="1575" b="1">
                <a:solidFill>
                  <a:srgbClr val="D77635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defRPr sz="1575" b="1">
                <a:solidFill>
                  <a:srgbClr val="D77635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D776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D77635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70DD22-ADBD-4D01-956E-09F2C0DE8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333625" y="3952875"/>
            <a:ext cx="3762375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D77635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F03642-5234-4BE7-BD8A-2A0C4CAD8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3388" y="4419600"/>
            <a:ext cx="28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ED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E2B23E-E6A7-4155-A5B4-09F31E4CD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3388" y="44196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575" b="1">
                <a:solidFill>
                  <a:srgbClr val="D77635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defRPr sz="1575" b="1">
                <a:solidFill>
                  <a:srgbClr val="D77635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defRPr sz="1575" b="1">
                <a:solidFill>
                  <a:srgbClr val="D77635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defRPr sz="1575" b="1">
                <a:solidFill>
                  <a:srgbClr val="D77635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defRPr sz="1575" b="1">
                <a:solidFill>
                  <a:srgbClr val="D77635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defRPr sz="1575" b="1">
                <a:solidFill>
                  <a:srgbClr val="D77635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defRPr sz="1575" b="1">
                <a:solidFill>
                  <a:srgbClr val="D77635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defRPr sz="1575" b="1">
                <a:solidFill>
                  <a:srgbClr val="D77635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defRPr sz="1575" b="1">
                <a:solidFill>
                  <a:srgbClr val="D77635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defRPr sz="1575" b="1">
                <a:solidFill>
                  <a:srgbClr val="D77635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D776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D77635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4CA2EC-A43F-400E-9C79-6C6B6444F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096000" y="3286125"/>
            <a:ext cx="3762375" cy="666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003">
            <a:solidFill>
              <a:srgbClr val="D77635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255AB0-9DFC-426C-9BBD-5813FCDFF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2863" y="3333750"/>
            <a:ext cx="28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ED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FBFDE6-4B62-49A3-9E3B-F97C790B4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2863" y="33337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575" b="1">
                <a:solidFill>
                  <a:srgbClr val="D77635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defRPr sz="1575" b="1">
                <a:solidFill>
                  <a:srgbClr val="D77635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defRPr sz="1575" b="1">
                <a:solidFill>
                  <a:srgbClr val="D77635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defRPr sz="1575" b="1">
                <a:solidFill>
                  <a:srgbClr val="D77635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defRPr sz="1575" b="1">
                <a:solidFill>
                  <a:srgbClr val="D77635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defRPr sz="1575" b="1">
                <a:solidFill>
                  <a:srgbClr val="D77635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defRPr sz="1575" b="1">
                <a:solidFill>
                  <a:srgbClr val="D77635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defRPr sz="1575" b="1">
                <a:solidFill>
                  <a:srgbClr val="D77635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defRPr sz="1575" b="1">
                <a:solidFill>
                  <a:srgbClr val="D77635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defRPr sz="1575" b="1">
                <a:solidFill>
                  <a:srgbClr val="D77635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D776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D77635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B811D6-C551-4EE7-A004-EFD1C1CFF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858375" y="3286125"/>
            <a:ext cx="953" cy="152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5719">
            <a:solidFill>
              <a:srgbClr val="93ACAC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50248B-AD48-4445-8D31-0AD2E71BD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086225"/>
            <a:ext cx="28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ED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815E58-A5C9-4DB8-8A6F-0B31C8174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0862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575" b="1">
                <a:solidFill>
                  <a:srgbClr val="93ACAC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defRPr sz="1575" b="1">
                <a:solidFill>
                  <a:srgbClr val="93ACAC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defRPr sz="1575" b="1">
                <a:solidFill>
                  <a:srgbClr val="93ACAC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defRPr sz="1575" b="1">
                <a:solidFill>
                  <a:srgbClr val="93ACAC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defRPr sz="1575" b="1">
                <a:solidFill>
                  <a:srgbClr val="93ACAC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defRPr sz="1575" b="1">
                <a:solidFill>
                  <a:srgbClr val="93ACAC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defRPr sz="1575" b="1">
                <a:solidFill>
                  <a:srgbClr val="93ACAC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defRPr sz="1575" b="1">
                <a:solidFill>
                  <a:srgbClr val="93ACAC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defRPr sz="1575" b="1">
                <a:solidFill>
                  <a:srgbClr val="93ACAC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defRPr sz="1575" b="1">
                <a:solidFill>
                  <a:srgbClr val="93ACAC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93ACA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93ACAC"/>
                </a:solidFill>
                <a:latin typeface="Arial Unicode MS"/>
                <a:ea typeface="Arial Unicode MS"/>
                <a:cs typeface="Arial Unicode MS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2A769B-A2B5-4CFA-B5F3-920852BFC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0" y="3952875"/>
            <a:ext cx="3762375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764">
            <a:solidFill>
              <a:srgbClr val="D77635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FECAFBF-8438-4A1A-8E46-B9F7B9B2A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2438" y="4419600"/>
            <a:ext cx="28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ED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9D7553-5F3A-45B4-987B-0C05D4FA0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2438" y="44196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575" b="1">
                <a:solidFill>
                  <a:srgbClr val="D77635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defRPr sz="1575" b="1">
                <a:solidFill>
                  <a:srgbClr val="D77635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defRPr sz="1575" b="1">
                <a:solidFill>
                  <a:srgbClr val="D77635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defRPr sz="1575" b="1">
                <a:solidFill>
                  <a:srgbClr val="D77635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defRPr sz="1575" b="1">
                <a:solidFill>
                  <a:srgbClr val="D77635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defRPr sz="1575" b="1">
                <a:solidFill>
                  <a:srgbClr val="D77635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defRPr sz="1575" b="1">
                <a:solidFill>
                  <a:srgbClr val="D77635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defRPr sz="1575" b="1">
                <a:solidFill>
                  <a:srgbClr val="D77635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defRPr sz="1575" b="1">
                <a:solidFill>
                  <a:srgbClr val="D77635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defRPr sz="1575" b="1">
                <a:solidFill>
                  <a:srgbClr val="D77635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D776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D77635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2F7531A-9AD7-4EF7-97A5-DAC50CF25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01942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8C87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DD8DC2-2D54-4C4C-AC93-0BA2CC19C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019425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3215172-54B4-438B-A750-B46E63F41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54342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8C87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7F0C24E-D5F5-4BF7-B0A8-6E1C4404A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543425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B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EBB8E40-0394-40D6-87F4-5F990984F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68617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5F95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BF06273-9AC2-4B5F-B228-8DAEA04C1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686175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C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DCD2D08-1B8F-4706-9483-BF705326E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301942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2639D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6CC6B6-BC01-44DA-9BE2-5A60A15DF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3019425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A2711C4-3269-49D9-8887-A6CD1546C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454342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2639D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1911DF9-36D8-430D-AAD9-3057F1A9F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4543425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1C295A5-BE1E-4F62-A4B2-6849F873C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43600"/>
            <a:ext cx="1112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rPr>
              <a:t>新增 A–C = 1、B–C = 4；最终 cut = 3 + 5 = 8。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C45A328-EF18-4B2E-ABBD-867719AB5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11125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05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05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05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05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05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05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05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05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05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05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rPr>
              <a:t>最终各组为 AB、C、DE，大小 2、1、2。每条边在最终割中只算一次。</a:t>
            </a:r>
          </a:p>
        </p:txBody>
      </p:sp>
    </p:spTree>
    <p:extLst>
      <p:ext uri="{BB962C8B-B14F-4D97-AF65-F5344CB8AC3E}">
        <p14:creationId xmlns:p14="http://schemas.microsoft.com/office/powerpoint/2010/main" val="28004966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3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494B1D-1A1E-45B4-B103-EA42527D8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rPr>
              <a:t>LESSON 8   多路划分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8056BD-A333-4166-BC73-E9E1FC7D9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47650"/>
            <a:ext cx="70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defPPr>
            <a:lvl1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1pPr>
            <a:lvl2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2pPr>
            <a:lvl3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3pPr>
            <a:lvl4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4pPr>
            <a:lvl5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5pPr>
            <a:lvl6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6pPr>
            <a:lvl7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7pPr>
            <a:lvl8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8pPr>
            <a:lvl9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0C5BE8-075C-40C1-9352-CDDE40405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28675"/>
            <a:ext cx="11125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rPr>
              <a:t>递归树记录“先切哪一块”。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D7AA89-0B43-4FCD-8A49-449BDA1D3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33400" y="1809750"/>
            <a:ext cx="111252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C899DE-11F1-404E-BEF8-0FFE04239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3905250" y="2619375"/>
            <a:ext cx="2190750" cy="1019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37A80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CCF557-3D9F-4663-B804-B04561174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0" y="2619375"/>
            <a:ext cx="2857500" cy="1019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37A8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E5FADC-F760-4A3C-B75D-6A571A86B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2286000" y="3924300"/>
            <a:ext cx="1619250" cy="1171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37A80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D56AA1-F5FC-43D3-B650-CBDDAE3FC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905250" y="3924300"/>
            <a:ext cx="1476375" cy="1171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37A80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BD37B5-266F-4558-9807-CA94166F3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124075"/>
            <a:ext cx="257175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2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D20094-0DAF-419A-89D7-DEE5C4A72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124075"/>
            <a:ext cx="257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21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defRPr sz="21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defRPr sz="21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defRPr sz="21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defRPr sz="21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defRPr sz="21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defRPr sz="21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defRPr sz="21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defRPr sz="21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defRPr sz="21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rPr>
              <a:t>ABCDE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15909D-8BF8-4BD0-A93A-A86729267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476625"/>
            <a:ext cx="20955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2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F3B966-1601-4626-99C2-173C331D7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476625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21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defRPr sz="21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defRPr sz="21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defRPr sz="21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defRPr sz="21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defRPr sz="21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defRPr sz="21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defRPr sz="21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defRPr sz="21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defRPr sz="21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rPr>
              <a:t>ABC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2D4CED-7E41-4D8F-803E-C1FD552CA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476625"/>
            <a:ext cx="20955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2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19FEE2-6FE3-4927-9A50-02F7A8937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476625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2100" b="1">
                <a:solidFill>
                  <a:srgbClr val="82639D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defRPr sz="2100" b="1">
                <a:solidFill>
                  <a:srgbClr val="82639D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defRPr sz="2100" b="1">
                <a:solidFill>
                  <a:srgbClr val="82639D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defRPr sz="2100" b="1">
                <a:solidFill>
                  <a:srgbClr val="82639D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defRPr sz="2100" b="1">
                <a:solidFill>
                  <a:srgbClr val="82639D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defRPr sz="2100" b="1">
                <a:solidFill>
                  <a:srgbClr val="82639D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defRPr sz="2100" b="1">
                <a:solidFill>
                  <a:srgbClr val="82639D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defRPr sz="2100" b="1">
                <a:solidFill>
                  <a:srgbClr val="82639D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defRPr sz="2100" b="1">
                <a:solidFill>
                  <a:srgbClr val="82639D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defRPr sz="2100" b="1">
                <a:solidFill>
                  <a:srgbClr val="82639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82639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82639D"/>
                </a:solidFill>
                <a:latin typeface="Arial Unicode MS"/>
                <a:ea typeface="Arial Unicode MS"/>
                <a:cs typeface="Arial Unicode MS"/>
              </a:rPr>
              <a:t>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C0213A-808C-43F1-B9B7-14E61A943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53000"/>
            <a:ext cx="20955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2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B09ADD-0999-4068-9880-AF29C7D63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5300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21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defRPr sz="21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defRPr sz="21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defRPr sz="21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defRPr sz="21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defRPr sz="21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defRPr sz="21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defRPr sz="21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defRPr sz="21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defRPr sz="21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rPr>
              <a:t>AB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387844-F166-4CAB-90A2-2B4AE4E44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953000"/>
            <a:ext cx="17145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2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FC83C4-61A1-4194-983D-85B4E9856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953000"/>
            <a:ext cx="171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2100" b="1">
                <a:solidFill>
                  <a:srgbClr val="365F95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defRPr sz="2100" b="1">
                <a:solidFill>
                  <a:srgbClr val="365F95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defRPr sz="2100" b="1">
                <a:solidFill>
                  <a:srgbClr val="365F95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defRPr sz="2100" b="1">
                <a:solidFill>
                  <a:srgbClr val="365F95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defRPr sz="2100" b="1">
                <a:solidFill>
                  <a:srgbClr val="365F95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defRPr sz="2100" b="1">
                <a:solidFill>
                  <a:srgbClr val="365F95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defRPr sz="2100" b="1">
                <a:solidFill>
                  <a:srgbClr val="365F95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defRPr sz="2100" b="1">
                <a:solidFill>
                  <a:srgbClr val="365F95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defRPr sz="2100" b="1">
                <a:solidFill>
                  <a:srgbClr val="365F95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defRPr sz="2100" b="1">
                <a:solidFill>
                  <a:srgbClr val="365F95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365F9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365F95"/>
                </a:solidFill>
                <a:latin typeface="Arial Unicode MS"/>
                <a:ea typeface="Arial Unicode MS"/>
                <a:cs typeface="Arial Unicode MS"/>
              </a:rPr>
              <a:t>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52CA27-C9C3-47E6-BF52-BD6569305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57500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725" b="0">
                <a:solidFill>
                  <a:srgbClr val="D77635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725" b="0">
                <a:solidFill>
                  <a:srgbClr val="D77635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725" b="0">
                <a:solidFill>
                  <a:srgbClr val="D77635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725" b="0">
                <a:solidFill>
                  <a:srgbClr val="D77635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725" b="0">
                <a:solidFill>
                  <a:srgbClr val="D77635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725" b="0">
                <a:solidFill>
                  <a:srgbClr val="D77635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725" b="0">
                <a:solidFill>
                  <a:srgbClr val="D77635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725" b="0">
                <a:solidFill>
                  <a:srgbClr val="D77635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725" b="0">
                <a:solidFill>
                  <a:srgbClr val="D77635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725" b="0">
                <a:solidFill>
                  <a:srgbClr val="D77635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D776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D77635"/>
                </a:solidFill>
                <a:latin typeface="Arial Unicode MS"/>
                <a:ea typeface="Arial Unicode MS"/>
                <a:cs typeface="Arial Unicode MS"/>
              </a:rPr>
              <a:t>第一刀增加 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070F7F-2F14-4DC6-A3EA-A85BB613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276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725" b="0">
                <a:solidFill>
                  <a:srgbClr val="D77635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725" b="0">
                <a:solidFill>
                  <a:srgbClr val="D77635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725" b="0">
                <a:solidFill>
                  <a:srgbClr val="D77635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725" b="0">
                <a:solidFill>
                  <a:srgbClr val="D77635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725" b="0">
                <a:solidFill>
                  <a:srgbClr val="D77635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725" b="0">
                <a:solidFill>
                  <a:srgbClr val="D77635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725" b="0">
                <a:solidFill>
                  <a:srgbClr val="D77635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725" b="0">
                <a:solidFill>
                  <a:srgbClr val="D77635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725" b="0">
                <a:solidFill>
                  <a:srgbClr val="D77635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725" b="0">
                <a:solidFill>
                  <a:srgbClr val="D77635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D776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D77635"/>
                </a:solidFill>
                <a:latin typeface="Arial Unicode MS"/>
                <a:ea typeface="Arial Unicode MS"/>
                <a:cs typeface="Arial Unicode MS"/>
              </a:rPr>
              <a:t>第二刀增加 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7A4218-DB06-491E-AAE8-2D8EE57BA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43600"/>
            <a:ext cx="1112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rPr>
              <a:t>三片叶子 = 三个分区；不必把 DE 再拆开。</a:t>
            </a:r>
          </a:p>
        </p:txBody>
      </p:sp>
    </p:spTree>
    <p:extLst>
      <p:ext uri="{BB962C8B-B14F-4D97-AF65-F5344CB8AC3E}">
        <p14:creationId xmlns:p14="http://schemas.microsoft.com/office/powerpoint/2010/main" val="185960306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3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2AD6C8-D772-4EDC-A62D-57B274C4D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rPr>
              <a:t>LESSON 8   多路划分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BAAE7A-94CE-4D6E-BADB-E29EFFC89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47650"/>
            <a:ext cx="70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defPPr>
            <a:lvl1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1pPr>
            <a:lvl2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2pPr>
            <a:lvl3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3pPr>
            <a:lvl4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4pPr>
            <a:lvl5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5pPr>
            <a:lvl6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6pPr>
            <a:lvl7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7pPr>
            <a:lvl8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8pPr>
            <a:lvl9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E57BAD-D48B-417A-A84D-6B0C7A5A6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28675"/>
            <a:ext cx="11125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rPr>
              <a:t>人数同样平衡，割代价相差 10。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A24A1F-D253-4D1D-B48B-09E79C09D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33400" y="1809750"/>
            <a:ext cx="111252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2"/>
            </a:solidFill>
          </a:ln>
        </p:spPr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01B3D4-03D1-4B9C-8731-0200F79162D2}"/>
              </a:ext>
            </a:extLst>
          </p:cNvPr>
          <p:cNvGraphicFramePr/>
          <p:nvPr/>
        </p:nvGraphicFramePr>
        <p:xfrm>
          <a:off xmlns:a="http://schemas.openxmlformats.org/drawingml/2006/main" x="666750" y="2305050"/>
          <a:ext xmlns:a="http://schemas.openxmlformats.org/drawingml/2006/main" cx="10858500" cy="2190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2714625"/>
                <a:gridCol w="2714625"/>
                <a:gridCol w="2714625"/>
              </a:tblGrid>
              <a:tr h="730250">
                <a:tc>
                  <a:txBody>
                    <a:bodyPr/>
                    <a:lstStyle/>
                    <a:p>
                      <a:pPr algn="ctr"/>
                      <a:r>
                        <a:rPr sz="1875" b="1">
                          <a:solidFill>
                            <a:srgbClr val="637A8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方法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0DCD6"/>
                      </a:solidFill>
                      <a:prstDash val="solid"/>
                    </a:lnL>
                    <a:lnR w="9525">
                      <a:solidFill>
                        <a:srgbClr val="D0DCD6"/>
                      </a:solidFill>
                      <a:prstDash val="solid"/>
                    </a:lnR>
                    <a:lnT w="9525">
                      <a:solidFill>
                        <a:srgbClr val="D0DCD6"/>
                      </a:solidFill>
                      <a:prstDash val="solid"/>
                    </a:lnT>
                    <a:lnB w="9525">
                      <a:solidFill>
                        <a:srgbClr val="D0DCD6"/>
                      </a:solidFill>
                      <a:prstDash val="solid"/>
                    </a:lnB>
                    <a:solidFill>
                      <a:srgbClr val="DFEA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1">
                          <a:solidFill>
                            <a:srgbClr val="637A8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最终分组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CD6"/>
                      </a:solidFill>
                      <a:prstDash val="solid"/>
                    </a:lnR>
                    <a:lnT w="9525">
                      <a:solidFill>
                        <a:srgbClr val="D0DCD6"/>
                      </a:solidFill>
                      <a:prstDash val="solid"/>
                    </a:lnT>
                    <a:lnB w="9525">
                      <a:solidFill>
                        <a:srgbClr val="D0DCD6"/>
                      </a:solidFill>
                      <a:prstDash val="solid"/>
                    </a:lnB>
                    <a:solidFill>
                      <a:srgbClr val="DFEA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1">
                          <a:solidFill>
                            <a:srgbClr val="637A8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分区大小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CD6"/>
                      </a:solidFill>
                      <a:prstDash val="solid"/>
                    </a:lnR>
                    <a:lnT w="9525">
                      <a:solidFill>
                        <a:srgbClr val="D0DCD6"/>
                      </a:solidFill>
                      <a:prstDash val="solid"/>
                    </a:lnT>
                    <a:lnB w="9525">
                      <a:solidFill>
                        <a:srgbClr val="D0DCD6"/>
                      </a:solidFill>
                      <a:prstDash val="solid"/>
                    </a:lnB>
                    <a:solidFill>
                      <a:srgbClr val="DFEA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1">
                          <a:solidFill>
                            <a:srgbClr val="637A8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割代价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CD6"/>
                      </a:solidFill>
                      <a:prstDash val="solid"/>
                    </a:lnR>
                    <a:lnT w="9525">
                      <a:solidFill>
                        <a:srgbClr val="D0DCD6"/>
                      </a:solidFill>
                      <a:prstDash val="solid"/>
                    </a:lnT>
                    <a:lnB w="9525">
                      <a:solidFill>
                        <a:srgbClr val="D0DCD6"/>
                      </a:solidFill>
                      <a:prstDash val="solid"/>
                    </a:lnB>
                    <a:solidFill>
                      <a:srgbClr val="DFEAE2"/>
                    </a:solidFill>
                  </a:tcPr>
                </a:tc>
              </a:tr>
              <a:tr h="730250"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15364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轮询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0DCD6"/>
                      </a:solidFill>
                      <a:prstDash val="solid"/>
                    </a:lnL>
                    <a:lnR w="9525">
                      <a:solidFill>
                        <a:srgbClr val="D0DCD6"/>
                      </a:solidFill>
                      <a:prstDash val="solid"/>
                    </a:lnR>
                    <a:lnB w="9525">
                      <a:solidFill>
                        <a:srgbClr val="D0D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15364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AD / BE / C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CD6"/>
                      </a:solidFill>
                      <a:prstDash val="solid"/>
                    </a:lnR>
                    <a:lnB w="9525">
                      <a:solidFill>
                        <a:srgbClr val="D0D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15364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2、2、1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CD6"/>
                      </a:solidFill>
                      <a:prstDash val="solid"/>
                    </a:lnR>
                    <a:lnB w="9525">
                      <a:solidFill>
                        <a:srgbClr val="D0D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15364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18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CD6"/>
                      </a:solidFill>
                      <a:prstDash val="solid"/>
                    </a:lnR>
                    <a:lnB w="9525">
                      <a:solidFill>
                        <a:srgbClr val="D0D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0250"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15364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递归二分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0DCD6"/>
                      </a:solidFill>
                      <a:prstDash val="solid"/>
                    </a:lnL>
                    <a:lnR w="9525">
                      <a:solidFill>
                        <a:srgbClr val="D0DCD6"/>
                      </a:solidFill>
                      <a:prstDash val="solid"/>
                    </a:lnR>
                    <a:lnB w="9525">
                      <a:solidFill>
                        <a:srgbClr val="D0DCD6"/>
                      </a:solidFill>
                      <a:prstDash val="solid"/>
                    </a:lnB>
                    <a:solidFill>
                      <a:srgbClr val="EDF1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15364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AB / C / DE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CD6"/>
                      </a:solidFill>
                      <a:prstDash val="solid"/>
                    </a:lnR>
                    <a:lnB w="9525">
                      <a:solidFill>
                        <a:srgbClr val="D0DCD6"/>
                      </a:solidFill>
                      <a:prstDash val="solid"/>
                    </a:lnB>
                    <a:solidFill>
                      <a:srgbClr val="EDF1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15364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2、1、2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CD6"/>
                      </a:solidFill>
                      <a:prstDash val="solid"/>
                    </a:lnR>
                    <a:lnB w="9525">
                      <a:solidFill>
                        <a:srgbClr val="D0DCD6"/>
                      </a:solidFill>
                      <a:prstDash val="solid"/>
                    </a:lnB>
                    <a:solidFill>
                      <a:srgbClr val="EDF1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15364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8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CD6"/>
                      </a:solidFill>
                      <a:prstDash val="solid"/>
                    </a:lnR>
                    <a:lnB w="9525">
                      <a:solidFill>
                        <a:srgbClr val="D0DCD6"/>
                      </a:solidFill>
                      <a:prstDash val="solid"/>
                    </a:lnB>
                    <a:solidFill>
                      <a:srgbClr val="EDF1E9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AA0C0D-D1E9-4AE5-98D7-F9F01D26D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2850" b="1">
                <a:solidFill>
                  <a:srgbClr val="D77635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defRPr sz="2850" b="1">
                <a:solidFill>
                  <a:srgbClr val="D77635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defRPr sz="2850" b="1">
                <a:solidFill>
                  <a:srgbClr val="D77635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defRPr sz="2850" b="1">
                <a:solidFill>
                  <a:srgbClr val="D77635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defRPr sz="2850" b="1">
                <a:solidFill>
                  <a:srgbClr val="D77635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defRPr sz="2850" b="1">
                <a:solidFill>
                  <a:srgbClr val="D77635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defRPr sz="2850" b="1">
                <a:solidFill>
                  <a:srgbClr val="D77635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defRPr sz="2850" b="1">
                <a:solidFill>
                  <a:srgbClr val="D77635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defRPr sz="2850" b="1">
                <a:solidFill>
                  <a:srgbClr val="D77635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defRPr sz="2850" b="1">
                <a:solidFill>
                  <a:srgbClr val="D77635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defRPr sz="2850" b="1">
                <a:solidFill>
                  <a:srgbClr val="D776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D77635"/>
                </a:solidFill>
                <a:latin typeface="Arial Unicode MS"/>
                <a:ea typeface="Arial Unicode MS"/>
                <a:cs typeface="Arial Unicode MS"/>
              </a:rPr>
              <a:t>18 − 8 = 10 = w(A,B) + w(D,E)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050625-E336-4DC6-A7AF-5F5DFA888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43600"/>
            <a:ext cx="1112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rPr>
              <a:t>减少的 10，来自保留了两条权重为 5 的组内边。</a:t>
            </a:r>
          </a:p>
        </p:txBody>
      </p:sp>
    </p:spTree>
    <p:extLst>
      <p:ext uri="{BB962C8B-B14F-4D97-AF65-F5344CB8AC3E}">
        <p14:creationId xmlns:p14="http://schemas.microsoft.com/office/powerpoint/2010/main" val="85376629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3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32C97D-F42D-498C-97DF-264E2A661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rPr>
              <a:t>LESSON 8   多路划分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CD8797-3C78-4B4B-9D62-61E56D43F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47650"/>
            <a:ext cx="70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defPPr>
            <a:lvl1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1pPr>
            <a:lvl2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2pPr>
            <a:lvl3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3pPr>
            <a:lvl4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4pPr>
            <a:lvl5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5pPr>
            <a:lvl6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6pPr>
            <a:lvl7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7pPr>
            <a:lvl8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8pPr>
            <a:lvl9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093465-BBD2-4804-8DAB-6C1FF37DF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28675"/>
            <a:ext cx="11125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rPr>
              <a:t>直接改进，也可以保留紧密连接。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A3305B-BBD9-4FEF-8A6A-53B916567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33400" y="1809750"/>
            <a:ext cx="111252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2"/>
            </a:solidFill>
          </a:ln>
        </p:spPr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360AF7-EF8E-4AB7-BBA9-0CBB16FD87C4}"/>
              </a:ext>
            </a:extLst>
          </p:cNvPr>
          <p:cNvGraphicFramePr/>
          <p:nvPr/>
        </p:nvGraphicFramePr>
        <p:xfrm>
          <a:off xmlns:a="http://schemas.openxmlformats.org/drawingml/2006/main" x="666750" y="2381250"/>
          <a:ext xmlns:a="http://schemas.openxmlformats.org/drawingml/2006/main" cx="10858500" cy="228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71700"/>
                <a:gridCol w="2171700"/>
                <a:gridCol w="2171700"/>
                <a:gridCol w="2171700"/>
                <a:gridCol w="2171700"/>
              </a:tblGrid>
              <a:tr h="76200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637A8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状态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0DCD6"/>
                      </a:solidFill>
                      <a:prstDash val="solid"/>
                    </a:lnL>
                    <a:lnR w="9525">
                      <a:solidFill>
                        <a:srgbClr val="D0DCD6"/>
                      </a:solidFill>
                      <a:prstDash val="solid"/>
                    </a:lnR>
                    <a:lnT w="9525">
                      <a:solidFill>
                        <a:srgbClr val="D0DCD6"/>
                      </a:solidFill>
                      <a:prstDash val="solid"/>
                    </a:lnT>
                    <a:lnB w="9525">
                      <a:solidFill>
                        <a:srgbClr val="D0DCD6"/>
                      </a:solidFill>
                      <a:prstDash val="solid"/>
                    </a:lnB>
                    <a:solidFill>
                      <a:srgbClr val="DFEA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637A8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第 1 组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CD6"/>
                      </a:solidFill>
                      <a:prstDash val="solid"/>
                    </a:lnR>
                    <a:lnT w="9525">
                      <a:solidFill>
                        <a:srgbClr val="D0DCD6"/>
                      </a:solidFill>
                      <a:prstDash val="solid"/>
                    </a:lnT>
                    <a:lnB w="9525">
                      <a:solidFill>
                        <a:srgbClr val="D0DCD6"/>
                      </a:solidFill>
                      <a:prstDash val="solid"/>
                    </a:lnB>
                    <a:solidFill>
                      <a:srgbClr val="DFEA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637A8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第 2 组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CD6"/>
                      </a:solidFill>
                      <a:prstDash val="solid"/>
                    </a:lnR>
                    <a:lnT w="9525">
                      <a:solidFill>
                        <a:srgbClr val="D0DCD6"/>
                      </a:solidFill>
                      <a:prstDash val="solid"/>
                    </a:lnT>
                    <a:lnB w="9525">
                      <a:solidFill>
                        <a:srgbClr val="D0DCD6"/>
                      </a:solidFill>
                      <a:prstDash val="solid"/>
                    </a:lnB>
                    <a:solidFill>
                      <a:srgbClr val="DFEA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637A8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第 3 组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CD6"/>
                      </a:solidFill>
                      <a:prstDash val="solid"/>
                    </a:lnR>
                    <a:lnT w="9525">
                      <a:solidFill>
                        <a:srgbClr val="D0DCD6"/>
                      </a:solidFill>
                      <a:prstDash val="solid"/>
                    </a:lnT>
                    <a:lnB w="9525">
                      <a:solidFill>
                        <a:srgbClr val="D0DCD6"/>
                      </a:solidFill>
                      <a:prstDash val="solid"/>
                    </a:lnB>
                    <a:solidFill>
                      <a:srgbClr val="DFEA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637A8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cut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CD6"/>
                      </a:solidFill>
                      <a:prstDash val="solid"/>
                    </a:lnR>
                    <a:lnT w="9525">
                      <a:solidFill>
                        <a:srgbClr val="D0DCD6"/>
                      </a:solidFill>
                      <a:prstDash val="solid"/>
                    </a:lnT>
                    <a:lnB w="9525">
                      <a:solidFill>
                        <a:srgbClr val="D0DCD6"/>
                      </a:solidFill>
                      <a:prstDash val="solid"/>
                    </a:lnB>
                    <a:solidFill>
                      <a:srgbClr val="DFEAE2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5364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交换前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0DCD6"/>
                      </a:solidFill>
                      <a:prstDash val="solid"/>
                    </a:lnL>
                    <a:lnR w="9525">
                      <a:solidFill>
                        <a:srgbClr val="D0DCD6"/>
                      </a:solidFill>
                      <a:prstDash val="solid"/>
                    </a:lnR>
                    <a:lnB w="9525">
                      <a:solidFill>
                        <a:srgbClr val="D0D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5364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A、D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CD6"/>
                      </a:solidFill>
                      <a:prstDash val="solid"/>
                    </a:lnR>
                    <a:lnB w="9525">
                      <a:solidFill>
                        <a:srgbClr val="D0D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5364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B、E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CD6"/>
                      </a:solidFill>
                      <a:prstDash val="solid"/>
                    </a:lnR>
                    <a:lnB w="9525">
                      <a:solidFill>
                        <a:srgbClr val="D0D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5364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C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CD6"/>
                      </a:solidFill>
                      <a:prstDash val="solid"/>
                    </a:lnR>
                    <a:lnB w="9525">
                      <a:solidFill>
                        <a:srgbClr val="D0D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5364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18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CD6"/>
                      </a:solidFill>
                      <a:prstDash val="solid"/>
                    </a:lnR>
                    <a:lnB w="9525">
                      <a:solidFill>
                        <a:srgbClr val="D0D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5364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交换 D 与 B 后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0DCD6"/>
                      </a:solidFill>
                      <a:prstDash val="solid"/>
                    </a:lnL>
                    <a:lnR w="9525">
                      <a:solidFill>
                        <a:srgbClr val="D0DCD6"/>
                      </a:solidFill>
                      <a:prstDash val="solid"/>
                    </a:lnR>
                    <a:lnB w="9525">
                      <a:solidFill>
                        <a:srgbClr val="D0DCD6"/>
                      </a:solidFill>
                      <a:prstDash val="solid"/>
                    </a:lnB>
                    <a:solidFill>
                      <a:srgbClr val="EDF1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5364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A、B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CD6"/>
                      </a:solidFill>
                      <a:prstDash val="solid"/>
                    </a:lnR>
                    <a:lnB w="9525">
                      <a:solidFill>
                        <a:srgbClr val="D0DCD6"/>
                      </a:solidFill>
                      <a:prstDash val="solid"/>
                    </a:lnB>
                    <a:solidFill>
                      <a:srgbClr val="EDF1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5364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D、E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CD6"/>
                      </a:solidFill>
                      <a:prstDash val="solid"/>
                    </a:lnR>
                    <a:lnB w="9525">
                      <a:solidFill>
                        <a:srgbClr val="D0DCD6"/>
                      </a:solidFill>
                      <a:prstDash val="solid"/>
                    </a:lnB>
                    <a:solidFill>
                      <a:srgbClr val="EDF1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5364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C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CD6"/>
                      </a:solidFill>
                      <a:prstDash val="solid"/>
                    </a:lnR>
                    <a:lnB w="9525">
                      <a:solidFill>
                        <a:srgbClr val="D0DCD6"/>
                      </a:solidFill>
                      <a:prstDash val="solid"/>
                    </a:lnB>
                    <a:solidFill>
                      <a:srgbClr val="EDF1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5364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8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CD6"/>
                      </a:solidFill>
                      <a:prstDash val="solid"/>
                    </a:lnR>
                    <a:lnB w="9525">
                      <a:solidFill>
                        <a:srgbClr val="D0DCD6"/>
                      </a:solidFill>
                      <a:prstDash val="solid"/>
                    </a:lnB>
                    <a:solidFill>
                      <a:srgbClr val="EDF1E9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09755E-8A2E-4677-BFC1-EA42362FB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01015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232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defRPr sz="232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defRPr sz="232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defRPr sz="232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defRPr sz="232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defRPr sz="232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defRPr sz="232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defRPr sz="232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defRPr sz="232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defRPr sz="232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rPr>
              <a:t>交换 D 与 B，人数保持 2、2、1。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5EF67C-12AC-4BD4-9E91-A813460A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43600"/>
            <a:ext cx="1112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rPr>
              <a:t>轮询只是直接分配基线，完整直接多路优化还有更丰富的搜索。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5F61D4-FD8E-48B2-BEB7-9C95E7DFB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11125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05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05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05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05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05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05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05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05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05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05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rPr>
              <a:t>这一步交换示例不等同于完整的 k-way FM。</a:t>
            </a:r>
          </a:p>
        </p:txBody>
      </p:sp>
    </p:spTree>
    <p:extLst>
      <p:ext uri="{BB962C8B-B14F-4D97-AF65-F5344CB8AC3E}">
        <p14:creationId xmlns:p14="http://schemas.microsoft.com/office/powerpoint/2010/main" val="192414626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3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60F74E-8EAD-4E4C-87D7-3273D5FD7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rPr>
              <a:t>LESSON 8   多路划分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A4A598-458A-4BC0-ACB3-00BB4AF6E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47650"/>
            <a:ext cx="70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defPPr>
            <a:lvl1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1pPr>
            <a:lvl2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2pPr>
            <a:lvl3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3pPr>
            <a:lvl4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4pPr>
            <a:lvl5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5pPr>
            <a:lvl6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6pPr>
            <a:lvl7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7pPr>
            <a:lvl8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8pPr>
            <a:lvl9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B06AB4-51BF-462E-9D08-1E1FAEA06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28675"/>
            <a:ext cx="11125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rPr>
              <a:t>修改边权，先预测再验证。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417C60-D460-46EB-A6D0-603BAC3FD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33400" y="1809750"/>
            <a:ext cx="111252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87653A-1BF9-40B8-9BD9-6AD181D6A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10668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70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270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270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270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270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270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270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270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270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270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rPr>
              <a:t>把 A–B 的权重从 5 改成 1。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B2D68A-6BC0-440B-9136-97C31B00C616}"/>
              </a:ext>
            </a:extLst>
          </p:cNvPr>
          <p:cNvGraphicFramePr/>
          <p:nvPr/>
        </p:nvGraphicFramePr>
        <p:xfrm>
          <a:off xmlns:a="http://schemas.openxmlformats.org/drawingml/2006/main" x="952500" y="3286125"/>
          <a:ext xmlns:a="http://schemas.openxmlformats.org/drawingml/2006/main" cx="10287000" cy="2190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3429000"/>
                <a:gridCol w="3429000"/>
              </a:tblGrid>
              <a:tr h="547688"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637A8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比较固定分组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0DCD6"/>
                      </a:solidFill>
                      <a:prstDash val="solid"/>
                    </a:lnL>
                    <a:lnR w="9525">
                      <a:solidFill>
                        <a:srgbClr val="D0DCD6"/>
                      </a:solidFill>
                      <a:prstDash val="solid"/>
                    </a:lnR>
                    <a:lnT w="9525">
                      <a:solidFill>
                        <a:srgbClr val="D0DCD6"/>
                      </a:solidFill>
                      <a:prstDash val="solid"/>
                    </a:lnT>
                    <a:lnB w="9525">
                      <a:solidFill>
                        <a:srgbClr val="D0DCD6"/>
                      </a:solidFill>
                      <a:prstDash val="solid"/>
                    </a:lnB>
                    <a:solidFill>
                      <a:srgbClr val="DFEA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637A8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修改前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CD6"/>
                      </a:solidFill>
                      <a:prstDash val="solid"/>
                    </a:lnR>
                    <a:lnT w="9525">
                      <a:solidFill>
                        <a:srgbClr val="D0DCD6"/>
                      </a:solidFill>
                      <a:prstDash val="solid"/>
                    </a:lnT>
                    <a:lnB w="9525">
                      <a:solidFill>
                        <a:srgbClr val="D0DCD6"/>
                      </a:solidFill>
                      <a:prstDash val="solid"/>
                    </a:lnB>
                    <a:solidFill>
                      <a:srgbClr val="DFEA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637A8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修改后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CD6"/>
                      </a:solidFill>
                      <a:prstDash val="solid"/>
                    </a:lnR>
                    <a:lnT w="9525">
                      <a:solidFill>
                        <a:srgbClr val="D0DCD6"/>
                      </a:solidFill>
                      <a:prstDash val="solid"/>
                    </a:lnT>
                    <a:lnB w="9525">
                      <a:solidFill>
                        <a:srgbClr val="D0DCD6"/>
                      </a:solidFill>
                      <a:prstDash val="solid"/>
                    </a:lnB>
                    <a:solidFill>
                      <a:srgbClr val="DFEAE2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5364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轮询 AD / BE / C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0DCD6"/>
                      </a:solidFill>
                      <a:prstDash val="solid"/>
                    </a:lnL>
                    <a:lnR w="9525">
                      <a:solidFill>
                        <a:srgbClr val="D0DCD6"/>
                      </a:solidFill>
                      <a:prstDash val="solid"/>
                    </a:lnR>
                    <a:lnB w="9525">
                      <a:solidFill>
                        <a:srgbClr val="D0D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5364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18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CD6"/>
                      </a:solidFill>
                      <a:prstDash val="solid"/>
                    </a:lnR>
                    <a:lnB w="9525">
                      <a:solidFill>
                        <a:srgbClr val="D0D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5364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？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CD6"/>
                      </a:solidFill>
                      <a:prstDash val="solid"/>
                    </a:lnR>
                    <a:lnB w="9525">
                      <a:solidFill>
                        <a:srgbClr val="D0D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5364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原递归方案 AB / C / DE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0DCD6"/>
                      </a:solidFill>
                      <a:prstDash val="solid"/>
                    </a:lnL>
                    <a:lnR w="9525">
                      <a:solidFill>
                        <a:srgbClr val="D0DCD6"/>
                      </a:solidFill>
                      <a:prstDash val="solid"/>
                    </a:lnR>
                    <a:lnB w="9525">
                      <a:solidFill>
                        <a:srgbClr val="D0DCD6"/>
                      </a:solidFill>
                      <a:prstDash val="solid"/>
                    </a:lnB>
                    <a:solidFill>
                      <a:srgbClr val="EDF1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5364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8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CD6"/>
                      </a:solidFill>
                      <a:prstDash val="solid"/>
                    </a:lnR>
                    <a:lnB w="9525">
                      <a:solidFill>
                        <a:srgbClr val="D0DCD6"/>
                      </a:solidFill>
                      <a:prstDash val="solid"/>
                    </a:lnB>
                    <a:solidFill>
                      <a:srgbClr val="EDF1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5364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？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CD6"/>
                      </a:solidFill>
                      <a:prstDash val="solid"/>
                    </a:lnR>
                    <a:lnB w="9525">
                      <a:solidFill>
                        <a:srgbClr val="D0DCD6"/>
                      </a:solidFill>
                      <a:prstDash val="solid"/>
                    </a:lnB>
                    <a:solidFill>
                      <a:srgbClr val="EDF1E9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5364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两方案代价差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0DCD6"/>
                      </a:solidFill>
                      <a:prstDash val="solid"/>
                    </a:lnL>
                    <a:lnR w="9525">
                      <a:solidFill>
                        <a:srgbClr val="D0DCD6"/>
                      </a:solidFill>
                      <a:prstDash val="solid"/>
                    </a:lnR>
                    <a:lnB w="9525">
                      <a:solidFill>
                        <a:srgbClr val="D0D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5364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CD6"/>
                      </a:solidFill>
                      <a:prstDash val="solid"/>
                    </a:lnR>
                    <a:lnB w="9525">
                      <a:solidFill>
                        <a:srgbClr val="D0D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5364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？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CD6"/>
                      </a:solidFill>
                      <a:prstDash val="solid"/>
                    </a:lnR>
                    <a:lnB w="9525">
                      <a:solidFill>
                        <a:srgbClr val="D0D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7ED332-CE8C-4E40-8C52-17CC1F998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43600"/>
            <a:ext cx="1112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rPr>
              <a:t>先找出 A–B 在两个方案中分别属于哪类边。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272D21-4DD8-4C95-B44E-D39A74434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11125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05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05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05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05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05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05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05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05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05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05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rPr>
              <a:t>答案在讲者备注与配套讲义中。重新运行算法时，应重新检查其分组。</a:t>
            </a:r>
          </a:p>
        </p:txBody>
      </p:sp>
    </p:spTree>
    <p:extLst>
      <p:ext uri="{BB962C8B-B14F-4D97-AF65-F5344CB8AC3E}">
        <p14:creationId xmlns:p14="http://schemas.microsoft.com/office/powerpoint/2010/main" val="187595196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3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159439-7341-4734-8EDD-26E37711A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rPr>
              <a:t>LESSON 8   多路划分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C7127F-B328-4B99-876A-CEEDA6619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47650"/>
            <a:ext cx="70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defPPr>
            <a:lvl1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1pPr>
            <a:lvl2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2pPr>
            <a:lvl3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3pPr>
            <a:lvl4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4pPr>
            <a:lvl5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5pPr>
            <a:lvl6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6pPr>
            <a:lvl7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7pPr>
            <a:lvl8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8pPr>
            <a:lvl9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B6B388-AD4F-491D-ADCF-77BDC03E0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28675"/>
            <a:ext cx="11125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rPr>
              <a:t>改变组数，容量也要一起检查。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800827-10CA-42CB-B039-41FFB388B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33400" y="1809750"/>
            <a:ext cx="111252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2"/>
            </a:solidFill>
          </a:ln>
        </p:spPr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42FAE6-C792-433F-A315-159C1DF8078D}"/>
              </a:ext>
            </a:extLst>
          </p:cNvPr>
          <p:cNvGraphicFramePr/>
          <p:nvPr/>
        </p:nvGraphicFramePr>
        <p:xfrm>
          <a:off xmlns:a="http://schemas.openxmlformats.org/drawingml/2006/main" x="666750" y="2400300"/>
          <a:ext xmlns:a="http://schemas.openxmlformats.org/drawingml/2006/main" cx="10858500" cy="2667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2714625"/>
                <a:gridCol w="2714625"/>
                <a:gridCol w="2714625"/>
              </a:tblGrid>
              <a:tr h="666750"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637A8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组数 k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0DCD6"/>
                      </a:solidFill>
                      <a:prstDash val="solid"/>
                    </a:lnL>
                    <a:lnR w="9525">
                      <a:solidFill>
                        <a:srgbClr val="D0DCD6"/>
                      </a:solidFill>
                      <a:prstDash val="solid"/>
                    </a:lnR>
                    <a:lnT w="9525">
                      <a:solidFill>
                        <a:srgbClr val="D0DCD6"/>
                      </a:solidFill>
                      <a:prstDash val="solid"/>
                    </a:lnT>
                    <a:lnB w="9525">
                      <a:solidFill>
                        <a:srgbClr val="D0DCD6"/>
                      </a:solidFill>
                      <a:prstDash val="solid"/>
                    </a:lnB>
                    <a:solidFill>
                      <a:srgbClr val="DFEA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637A8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每组容量上限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CD6"/>
                      </a:solidFill>
                      <a:prstDash val="solid"/>
                    </a:lnR>
                    <a:lnT w="9525">
                      <a:solidFill>
                        <a:srgbClr val="D0DCD6"/>
                      </a:solidFill>
                      <a:prstDash val="solid"/>
                    </a:lnT>
                    <a:lnB w="9525">
                      <a:solidFill>
                        <a:srgbClr val="D0DCD6"/>
                      </a:solidFill>
                      <a:prstDash val="solid"/>
                    </a:lnB>
                    <a:solidFill>
                      <a:srgbClr val="DFEA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637A8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总容量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CD6"/>
                      </a:solidFill>
                      <a:prstDash val="solid"/>
                    </a:lnR>
                    <a:lnT w="9525">
                      <a:solidFill>
                        <a:srgbClr val="D0DCD6"/>
                      </a:solidFill>
                      <a:prstDash val="solid"/>
                    </a:lnT>
                    <a:lnB w="9525">
                      <a:solidFill>
                        <a:srgbClr val="D0DCD6"/>
                      </a:solidFill>
                      <a:prstDash val="solid"/>
                    </a:lnB>
                    <a:solidFill>
                      <a:srgbClr val="DFEA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637A8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是否可行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CD6"/>
                      </a:solidFill>
                      <a:prstDash val="solid"/>
                    </a:lnR>
                    <a:lnT w="9525">
                      <a:solidFill>
                        <a:srgbClr val="D0DCD6"/>
                      </a:solidFill>
                      <a:prstDash val="solid"/>
                    </a:lnT>
                    <a:lnB w="9525">
                      <a:solidFill>
                        <a:srgbClr val="D0DCD6"/>
                      </a:solidFill>
                      <a:prstDash val="solid"/>
                    </a:lnB>
                    <a:solidFill>
                      <a:srgbClr val="DFEAE2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5364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0DCD6"/>
                      </a:solidFill>
                      <a:prstDash val="solid"/>
                    </a:lnL>
                    <a:lnR w="9525">
                      <a:solidFill>
                        <a:srgbClr val="D0DCD6"/>
                      </a:solidFill>
                      <a:prstDash val="solid"/>
                    </a:lnR>
                    <a:lnB w="9525">
                      <a:solidFill>
                        <a:srgbClr val="D0D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5364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CD6"/>
                      </a:solidFill>
                      <a:prstDash val="solid"/>
                    </a:lnR>
                    <a:lnB w="9525">
                      <a:solidFill>
                        <a:srgbClr val="D0D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5364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CD6"/>
                      </a:solidFill>
                      <a:prstDash val="solid"/>
                    </a:lnR>
                    <a:lnB w="9525">
                      <a:solidFill>
                        <a:srgbClr val="D0D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5364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否：放不下 5 个节点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CD6"/>
                      </a:solidFill>
                      <a:prstDash val="solid"/>
                    </a:lnR>
                    <a:lnB w="9525">
                      <a:solidFill>
                        <a:srgbClr val="D0D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5364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0DCD6"/>
                      </a:solidFill>
                      <a:prstDash val="solid"/>
                    </a:lnL>
                    <a:lnR w="9525">
                      <a:solidFill>
                        <a:srgbClr val="D0DCD6"/>
                      </a:solidFill>
                      <a:prstDash val="solid"/>
                    </a:lnR>
                    <a:lnB w="9525">
                      <a:solidFill>
                        <a:srgbClr val="D0DCD6"/>
                      </a:solidFill>
                      <a:prstDash val="solid"/>
                    </a:lnB>
                    <a:solidFill>
                      <a:srgbClr val="EDF1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5364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3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CD6"/>
                      </a:solidFill>
                      <a:prstDash val="solid"/>
                    </a:lnR>
                    <a:lnB w="9525">
                      <a:solidFill>
                        <a:srgbClr val="D0DCD6"/>
                      </a:solidFill>
                      <a:prstDash val="solid"/>
                    </a:lnB>
                    <a:solidFill>
                      <a:srgbClr val="EDF1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5364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CD6"/>
                      </a:solidFill>
                      <a:prstDash val="solid"/>
                    </a:lnR>
                    <a:lnB w="9525">
                      <a:solidFill>
                        <a:srgbClr val="D0DCD6"/>
                      </a:solidFill>
                      <a:prstDash val="solid"/>
                    </a:lnB>
                    <a:solidFill>
                      <a:srgbClr val="EDF1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5364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是：例如 ABC / DE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CD6"/>
                      </a:solidFill>
                      <a:prstDash val="solid"/>
                    </a:lnR>
                    <a:lnB w="9525">
                      <a:solidFill>
                        <a:srgbClr val="D0DCD6"/>
                      </a:solidFill>
                      <a:prstDash val="solid"/>
                    </a:lnB>
                    <a:solidFill>
                      <a:srgbClr val="EDF1E9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5364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3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0DCD6"/>
                      </a:solidFill>
                      <a:prstDash val="solid"/>
                    </a:lnL>
                    <a:lnR w="9525">
                      <a:solidFill>
                        <a:srgbClr val="D0DCD6"/>
                      </a:solidFill>
                      <a:prstDash val="solid"/>
                    </a:lnR>
                    <a:lnB w="9525">
                      <a:solidFill>
                        <a:srgbClr val="D0D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5364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CD6"/>
                      </a:solidFill>
                      <a:prstDash val="solid"/>
                    </a:lnR>
                    <a:lnB w="9525">
                      <a:solidFill>
                        <a:srgbClr val="D0D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5364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CD6"/>
                      </a:solidFill>
                      <a:prstDash val="solid"/>
                    </a:lnR>
                    <a:lnB w="9525">
                      <a:solidFill>
                        <a:srgbClr val="D0D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5364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是：例如 AB / C / DE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CD6"/>
                      </a:solidFill>
                      <a:prstDash val="solid"/>
                    </a:lnR>
                    <a:lnB w="9525">
                      <a:solidFill>
                        <a:srgbClr val="D0D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D4CE66-B255-417A-96AE-4AA056E62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43600"/>
            <a:ext cx="1112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rPr>
              <a:t>总容量足够是必要条件；不同面积的节点还需逐组检查。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F927E6-9887-434E-9B90-D8B78435F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11125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05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05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05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05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05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05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05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05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05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05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rPr>
              <a:t>ABC / DE 的 cut = 3，但它属于另一套约束。</a:t>
            </a:r>
          </a:p>
        </p:txBody>
      </p:sp>
    </p:spTree>
    <p:extLst>
      <p:ext uri="{BB962C8B-B14F-4D97-AF65-F5344CB8AC3E}">
        <p14:creationId xmlns:p14="http://schemas.microsoft.com/office/powerpoint/2010/main" val="175019543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3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92CAAC-0D12-4E80-8F51-48387F6D1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rPr>
              <a:t>LESSON 8   多路划分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A594B4-E936-4DE3-98DC-3696F2292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47650"/>
            <a:ext cx="70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defPPr>
            <a:lvl1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1pPr>
            <a:lvl2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2pPr>
            <a:lvl3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3pPr>
            <a:lvl4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4pPr>
            <a:lvl5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5pPr>
            <a:lvl6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6pPr>
            <a:lvl7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7pPr>
            <a:lvl8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8pPr>
            <a:lvl9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66229F-1220-40BD-B2C5-0B04C1BDA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28675"/>
            <a:ext cx="11125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rPr>
              <a:t>本例能穷举，一般输入仍需谨慎。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F05449-EA70-4787-8745-4A3C5A6C2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33400" y="1809750"/>
            <a:ext cx="111252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32E972-4EE6-46DE-A878-A67C84E0B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57425"/>
            <a:ext cx="2333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17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217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217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217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217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217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217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217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217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217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rPr>
              <a:t>本例的验证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46ED5D-5950-4AA9-9978-C592EFCF9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257425"/>
            <a:ext cx="8096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100" b="0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2100" b="0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2100" b="0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2100" b="0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2100" b="0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2100" b="0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2100" b="0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2100" b="0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2100" b="0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2100" b="0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rPr>
              <a:t>90 个可行带标签分配，最小 cut = 8。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A07BE2-0B3D-45F0-B89C-96C82866D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0"/>
            <a:ext cx="2333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17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217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217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217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217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217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217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217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217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217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rPr>
              <a:t>一般图的边界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3BDF93-00CE-4CBF-84A0-995921A54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333750"/>
            <a:ext cx="8096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100" b="0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2100" b="0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2100" b="0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2100" b="0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2100" b="0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2100" b="0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2100" b="0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2100" b="0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2100" b="0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2100" b="0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rPr>
              <a:t>递归二分不保证对所有输入都找到全局最优。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226D17-C9AD-4935-A1BC-CDB0B857F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10075"/>
            <a:ext cx="2333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17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217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217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217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217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217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217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217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217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217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rPr>
              <a:t>容量的边界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D5713C-9AF0-4869-9737-B31D6EE68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410075"/>
            <a:ext cx="8096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100" b="0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2100" b="0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2100" b="0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2100" b="0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2100" b="0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2100" b="0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2100" b="0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2100" b="0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2100" b="0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2100" b="0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rPr>
              <a:t>逐层二分的局部平衡，不能替代最终逐组容量检查。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E72475-A0FC-438A-A629-7FF7FFC77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43600"/>
            <a:ext cx="1112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rPr>
              <a:t>若输出超出容量，应报告不可行结果并调整方法。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08C1CD-CFD2-439C-9785-D3B0889F9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11125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05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05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05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05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05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05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05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05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05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05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rPr>
              <a:t>单位节点数量与单元面积不同，工程约束必须明确建模。</a:t>
            </a:r>
          </a:p>
        </p:txBody>
      </p:sp>
    </p:spTree>
    <p:extLst>
      <p:ext uri="{BB962C8B-B14F-4D97-AF65-F5344CB8AC3E}">
        <p14:creationId xmlns:p14="http://schemas.microsoft.com/office/powerpoint/2010/main" val="201218377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3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D57A0E-94E0-47AF-94EC-87C2BF488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rPr>
              <a:t>LESSON 8   多路划分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AAF4F5-E04F-4AF4-A933-6CDB9E191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47650"/>
            <a:ext cx="70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defPPr>
            <a:lvl1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1pPr>
            <a:lvl2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2pPr>
            <a:lvl3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3pPr>
            <a:lvl4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4pPr>
            <a:lvl5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5pPr>
            <a:lvl6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6pPr>
            <a:lvl7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7pPr>
            <a:lvl8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8pPr>
            <a:lvl9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B25158-0110-4A4D-A3F3-3245EA01D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28675"/>
            <a:ext cx="11125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rPr>
              <a:t>实验报告，要能解释结果从哪里来。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912D9B-2F44-45FD-B92C-3DCB97018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33400" y="1809750"/>
            <a:ext cx="111252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A0F401-CA87-4944-8DE3-C03A90CCD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09800"/>
            <a:ext cx="61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72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72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72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72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72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72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72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72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72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72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8893F2-5D94-4EE7-92D4-6B0CD7086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20980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175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2175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2175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2175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2175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2175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2175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2175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2175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2175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rPr>
              <a:t>输入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10A00E-AEF6-4C27-98D4-133943583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20980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025" b="0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2025" b="0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2025" b="0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2025" b="0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2025" b="0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2025" b="0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2025" b="0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2025" b="0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2025" b="0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2025" b="0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rPr>
              <a:t>保存图、k、节点大小和容量上限。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0F379F-8882-414C-85F4-DD8FF550F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28950"/>
            <a:ext cx="61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72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72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72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72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72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72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72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72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72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72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AD0F54-90C6-42C0-82C4-A2BD9FFC1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02895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175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2175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2175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2175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2175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2175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2175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2175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2175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2175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rPr>
              <a:t>结果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EA22E5-A283-40B7-8E67-CFE719B99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02895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025" b="0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2025" b="0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2025" b="0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2025" b="0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2025" b="0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2025" b="0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2025" b="0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2025" b="0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2025" b="0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2025" b="0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rPr>
              <a:t>记录分组、各组大小与逐条跨区边。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20A904-4F2C-4B5A-A79C-D20A56E5F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48100"/>
            <a:ext cx="61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72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72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72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72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72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72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72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72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72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72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6C3D32-F646-4769-9E93-84186025E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84810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175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2175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2175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2175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2175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2175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2175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2175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2175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2175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rPr>
              <a:t>对照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F2C3C0-9A75-40A1-818C-3E31BB978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84810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025" b="0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2025" b="0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2025" b="0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2025" b="0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2025" b="0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2025" b="0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2025" b="0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2025" b="0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2025" b="0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2025" b="0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rPr>
              <a:t>修改一个条件，解释变化原因。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5197CA-8BC3-4F12-84FD-3694E682F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67250"/>
            <a:ext cx="61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72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72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72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72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72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72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72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72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72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72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C6024D-DB6A-44B1-A012-DAB56B466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66725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175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2175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2175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2175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2175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2175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2175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2175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2175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2175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rPr>
              <a:t>结论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947429-2DD1-4FEE-B232-3226B4188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66725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025" b="0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2025" b="0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2025" b="0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2025" b="0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2025" b="0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2025" b="0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2025" b="0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2025" b="0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2025" b="0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2025" b="0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rPr>
              <a:t>说明结果是否可行，以及方法的局限。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395BAD-576C-4EEF-94CA-7A7A4ADE9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43600"/>
            <a:ext cx="1112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rPr>
              <a:t>课堂挑战：手动分组后，再与轮询、递归二分进行比较。</a:t>
            </a:r>
          </a:p>
        </p:txBody>
      </p:sp>
    </p:spTree>
    <p:extLst>
      <p:ext uri="{BB962C8B-B14F-4D97-AF65-F5344CB8AC3E}">
        <p14:creationId xmlns:p14="http://schemas.microsoft.com/office/powerpoint/2010/main" val="136833628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3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295544-B7DA-4FAD-85AA-1182D30D6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rPr>
              <a:t>LESSON 8   多路划分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6B889E-A4CF-4DB1-ACE3-F702A4278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47650"/>
            <a:ext cx="70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defPPr>
            <a:lvl1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1pPr>
            <a:lvl2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2pPr>
            <a:lvl3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3pPr>
            <a:lvl4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4pPr>
            <a:lvl5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5pPr>
            <a:lvl6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6pPr>
            <a:lvl7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7pPr>
            <a:lvl8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8pPr>
            <a:lvl9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07AFC8-B22D-463B-A204-6F19CAC8E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28675"/>
            <a:ext cx="11125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rPr>
              <a:t>同样的容量，连接关系决定分组质量。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6C670B-5257-4574-9BF7-6DAA0E6F1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33400" y="1809750"/>
            <a:ext cx="111252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A3BB26-C262-4A3F-9763-7A9A5ED2D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3362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382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defRPr sz="382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defRPr sz="382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defRPr sz="382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defRPr sz="382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defRPr sz="382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defRPr sz="382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defRPr sz="382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defRPr sz="382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defRPr sz="382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defRPr sz="382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825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rPr>
              <a:t>轮询 18       递归示例 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3A2DA4-EF99-420E-A29A-8CBE60D7B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10668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2550" b="0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defRPr sz="2550" b="0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defRPr sz="2550" b="0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defRPr sz="2550" b="0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defRPr sz="2550" b="0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defRPr sz="2550" b="0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defRPr sz="2550" b="0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defRPr sz="2550" b="0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defRPr sz="2550" b="0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defRPr sz="2550" b="0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defRPr sz="2550" b="0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0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rPr>
              <a:t>保留紧密连接，逐组检查容量。</a:t>
            </a:r>
          </a:p>
          <a:p xmlns:a="http://schemas.openxmlformats.org/drawingml/2006/main">
            <a:pPr algn="ctr">
              <a:defRPr sz="2550" b="0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0">
                <a:solidFill>
                  <a:srgbClr val="153641"/>
                </a:solidFill>
                <a:latin typeface="Arial Unicode MS"/>
                <a:ea typeface="Arial Unicode MS"/>
                <a:cs typeface="Arial Unicode MS"/>
              </a:rPr>
              <a:t>用相同输入比较，用逐条边解释。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2F95F4-7624-4876-8062-4ABAB7ED8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054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575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defRPr sz="1575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defRPr sz="1575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defRPr sz="1575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defRPr sz="1575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defRPr sz="1575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defRPr sz="1575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defRPr sz="1575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defRPr sz="1575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defRPr sz="1575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rPr>
              <a:t>课程：yongfu-li / eda-learning · Partitioning Lesson 8</a:t>
            </a:r>
          </a:p>
          <a:p xmlns:a="http://schemas.openxmlformats.org/drawingml/2006/main">
            <a:pPr algn="ctr">
              <a:defRPr sz="1575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rPr>
              <a:t>配套：互动网站、课程视频、可编辑课件、讲义与源码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0FA305-2945-4917-AC9E-A947C91EB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43600"/>
            <a:ext cx="1112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58C87"/>
                </a:solidFill>
                <a:latin typeface="Arial Unicode MS"/>
                <a:ea typeface="Arial Unicode MS"/>
                <a:cs typeface="Arial Unicode MS"/>
              </a:rPr>
              <a:t>FanQin Zeng · EDA Learning / Lesson 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66790E-7367-4540-8402-EDE68F4EF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11125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05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05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05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05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05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05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05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05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05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05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37A80"/>
                </a:solidFill>
                <a:latin typeface="Arial Unicode MS"/>
                <a:ea typeface="Arial Unicode MS"/>
                <a:cs typeface="Arial Unicode MS"/>
              </a:rPr>
              <a:t>完整来源链接位于本页及各页讲者备注。</a:t>
            </a:r>
          </a:p>
        </p:txBody>
      </p:sp>
    </p:spTree>
    <p:extLst>
      <p:ext uri="{BB962C8B-B14F-4D97-AF65-F5344CB8AC3E}">
        <p14:creationId xmlns:p14="http://schemas.microsoft.com/office/powerpoint/2010/main" val="7700556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2026-10-26T17:53:21.6050000Z</dcterms:created>
  <dcterms:modified xsi:type="dcterms:W3CDTF">2026-10-26T17:53:21.6050000Z</dcterms:modified>
</coreProperties>
</file>